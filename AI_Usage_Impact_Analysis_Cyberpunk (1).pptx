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848B393-E924-E0B8-83B2-9536674E9EFF}">
          <p14:sldIdLst>
            <p14:sldId id="256"/>
          </p14:sldIdLst>
        </p14:section>
        <p14:section name="Overview" id="{37536C0A-E362-0327-7B60-878FB208A862}">
          <p14:sldIdLst>
            <p14:sldId id="257"/>
            <p14:sldId id="258"/>
          </p14:sldIdLst>
        </p14:section>
        <p14:section name="Tools and use-cases" id="{74C946EA-702B-6DE6-6F81-0965E4FE7F14}">
          <p14:sldIdLst>
            <p14:sldId id="259"/>
            <p14:sldId id="260"/>
          </p14:sldIdLst>
        </p14:section>
        <p14:section name="Impact" id="{70BCC95D-D0EB-02C0-3014-3A67B2B91CDF}">
          <p14:sldIdLst>
            <p14:sldId id="261"/>
            <p14:sldId id="262"/>
          </p14:sldIdLst>
        </p14:section>
        <p14:section name="Wrap-up" id="{12382E26-6CA4-D504-A21D-AFEFCB8F4CC3}">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Users</c:v>
                </c:pt>
              </c:strCache>
            </c:strRef>
          </c:tx>
          <c:spPr>
            <a:solidFill>
              <a:schemeClr val="accent1"/>
            </a:solidFill>
            <a:ln w="9525" cap="flat">
              <a:solidFill>
                <a:srgbClr val="F9F9F9"/>
              </a:solidFill>
              <a:prstDash val="solid"/>
              <a:round/>
            </a:ln>
            <a:effectLst/>
          </c:spPr>
          <c:dPt>
            <c:idx val="0"/>
            <c:bubble3D val="0"/>
            <c:spPr>
              <a:solidFill>
                <a:srgbClr val="9B5CFF"/>
              </a:solidFill>
              <a:ln w="38100" cap="flat">
                <a:solidFill>
                  <a:srgbClr val="0E0B24"/>
                </a:solidFill>
                <a:prstDash val="solid"/>
                <a:round/>
              </a:ln>
              <a:effectLst/>
            </c:spPr>
            <c:extLst>
              <c:ext xmlns:c16="http://schemas.microsoft.com/office/drawing/2014/chart" uri="{C3380CC4-5D6E-409C-BE32-E72D297353CC}">
                <c16:uniqueId val="{00000001-93CE-4C68-A3A2-1328D3217AE9}"/>
              </c:ext>
            </c:extLst>
          </c:dPt>
          <c:dPt>
            <c:idx val="1"/>
            <c:bubble3D val="0"/>
            <c:spPr>
              <a:solidFill>
                <a:srgbClr val="25F4EE"/>
              </a:solidFill>
              <a:ln w="38100" cap="flat">
                <a:solidFill>
                  <a:srgbClr val="0E0B24"/>
                </a:solidFill>
                <a:prstDash val="solid"/>
                <a:round/>
              </a:ln>
              <a:effectLst/>
            </c:spPr>
            <c:extLst>
              <c:ext xmlns:c16="http://schemas.microsoft.com/office/drawing/2014/chart" uri="{C3380CC4-5D6E-409C-BE32-E72D297353CC}">
                <c16:uniqueId val="{00000003-93CE-4C68-A3A2-1328D3217AE9}"/>
              </c:ext>
            </c:extLst>
          </c:dPt>
          <c:cat>
            <c:strRef>
              <c:f>Sheet1!$A$2:$A$3</c:f>
              <c:strCache>
                <c:ptCount val="2"/>
                <c:pt idx="0">
                  <c:v>Students</c:v>
                </c:pt>
                <c:pt idx="1">
                  <c:v>Professionals</c:v>
                </c:pt>
              </c:strCache>
            </c:strRef>
          </c:cat>
          <c:val>
            <c:numRef>
              <c:f>Sheet1!$B$2:$B$3</c:f>
              <c:numCache>
                <c:formatCode>General</c:formatCode>
                <c:ptCount val="2"/>
                <c:pt idx="0">
                  <c:v>158</c:v>
                </c:pt>
                <c:pt idx="1">
                  <c:v>142</c:v>
                </c:pt>
              </c:numCache>
            </c:numRef>
          </c:val>
          <c:extLst>
            <c:ext xmlns:c16="http://schemas.microsoft.com/office/drawing/2014/chart" uri="{C3380CC4-5D6E-409C-BE32-E72D297353CC}">
              <c16:uniqueId val="{00000004-93CE-4C68-A3A2-1328D3217AE9}"/>
            </c:ext>
          </c:extLst>
        </c:ser>
        <c:dLbls>
          <c:showLegendKey val="0"/>
          <c:showVal val="0"/>
          <c:showCatName val="0"/>
          <c:showSerName val="0"/>
          <c:showPercent val="0"/>
          <c:showBubbleSize val="0"/>
          <c:showLeaderLines val="0"/>
        </c:dLbls>
        <c:firstSliceAng val="0"/>
        <c:holeSize val="7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Users</c:v>
                </c:pt>
              </c:strCache>
            </c:strRef>
          </c:tx>
          <c:spPr>
            <a:solidFill>
              <a:srgbClr val="FF2E93"/>
            </a:solidFill>
            <a:effectLst/>
          </c:spPr>
          <c:invertIfNegative val="0"/>
          <c:dPt>
            <c:idx val="0"/>
            <c:invertIfNegative val="0"/>
            <c:bubble3D val="0"/>
            <c:extLst>
              <c:ext xmlns:c16="http://schemas.microsoft.com/office/drawing/2014/chart" uri="{C3380CC4-5D6E-409C-BE32-E72D297353CC}">
                <c16:uniqueId val="{00000001-6412-44F3-8006-3D7B940968F8}"/>
              </c:ext>
            </c:extLst>
          </c:dPt>
          <c:dPt>
            <c:idx val="1"/>
            <c:invertIfNegative val="0"/>
            <c:bubble3D val="0"/>
            <c:spPr>
              <a:solidFill>
                <a:srgbClr val="25F4EE"/>
              </a:solidFill>
              <a:effectLst/>
            </c:spPr>
            <c:extLst>
              <c:ext xmlns:c16="http://schemas.microsoft.com/office/drawing/2014/chart" uri="{C3380CC4-5D6E-409C-BE32-E72D297353CC}">
                <c16:uniqueId val="{00000003-6412-44F3-8006-3D7B940968F8}"/>
              </c:ext>
            </c:extLst>
          </c:dPt>
          <c:dPt>
            <c:idx val="2"/>
            <c:invertIfNegative val="0"/>
            <c:bubble3D val="0"/>
            <c:spPr>
              <a:solidFill>
                <a:srgbClr val="25F4EE"/>
              </a:solidFill>
              <a:effectLst/>
            </c:spPr>
            <c:extLst>
              <c:ext xmlns:c16="http://schemas.microsoft.com/office/drawing/2014/chart" uri="{C3380CC4-5D6E-409C-BE32-E72D297353CC}">
                <c16:uniqueId val="{00000005-6412-44F3-8006-3D7B940968F8}"/>
              </c:ext>
            </c:extLst>
          </c:dPt>
          <c:dPt>
            <c:idx val="3"/>
            <c:invertIfNegative val="0"/>
            <c:bubble3D val="0"/>
            <c:spPr>
              <a:solidFill>
                <a:srgbClr val="25F4EE"/>
              </a:solidFill>
              <a:effectLst/>
            </c:spPr>
            <c:extLst>
              <c:ext xmlns:c16="http://schemas.microsoft.com/office/drawing/2014/chart" uri="{C3380CC4-5D6E-409C-BE32-E72D297353CC}">
                <c16:uniqueId val="{00000007-6412-44F3-8006-3D7B940968F8}"/>
              </c:ext>
            </c:extLst>
          </c:dPt>
          <c:dPt>
            <c:idx val="4"/>
            <c:invertIfNegative val="0"/>
            <c:bubble3D val="0"/>
            <c:spPr>
              <a:solidFill>
                <a:srgbClr val="25F4EE"/>
              </a:solidFill>
              <a:effectLst/>
            </c:spPr>
            <c:extLst>
              <c:ext xmlns:c16="http://schemas.microsoft.com/office/drawing/2014/chart" uri="{C3380CC4-5D6E-409C-BE32-E72D297353CC}">
                <c16:uniqueId val="{00000009-6412-44F3-8006-3D7B940968F8}"/>
              </c:ext>
            </c:extLst>
          </c:dPt>
          <c:dPt>
            <c:idx val="5"/>
            <c:invertIfNegative val="0"/>
            <c:bubble3D val="0"/>
            <c:spPr>
              <a:solidFill>
                <a:srgbClr val="25F4EE"/>
              </a:solidFill>
              <a:effectLst/>
            </c:spPr>
            <c:extLst>
              <c:ext xmlns:c16="http://schemas.microsoft.com/office/drawing/2014/chart" uri="{C3380CC4-5D6E-409C-BE32-E72D297353CC}">
                <c16:uniqueId val="{0000000B-6412-44F3-8006-3D7B940968F8}"/>
              </c:ext>
            </c:extLst>
          </c:dPt>
          <c:dPt>
            <c:idx val="6"/>
            <c:invertIfNegative val="0"/>
            <c:bubble3D val="0"/>
            <c:spPr>
              <a:solidFill>
                <a:srgbClr val="25F4EE"/>
              </a:solidFill>
              <a:effectLst/>
            </c:spPr>
            <c:extLst>
              <c:ext xmlns:c16="http://schemas.microsoft.com/office/drawing/2014/chart" uri="{C3380CC4-5D6E-409C-BE32-E72D297353CC}">
                <c16:uniqueId val="{0000000D-6412-44F3-8006-3D7B940968F8}"/>
              </c:ext>
            </c:extLst>
          </c:dPt>
          <c:dPt>
            <c:idx val="7"/>
            <c:invertIfNegative val="0"/>
            <c:bubble3D val="0"/>
            <c:spPr>
              <a:solidFill>
                <a:srgbClr val="25F4EE"/>
              </a:solidFill>
              <a:effectLst/>
            </c:spPr>
            <c:extLst>
              <c:ext xmlns:c16="http://schemas.microsoft.com/office/drawing/2014/chart" uri="{C3380CC4-5D6E-409C-BE32-E72D297353CC}">
                <c16:uniqueId val="{0000000F-6412-44F3-8006-3D7B940968F8}"/>
              </c:ext>
            </c:extLst>
          </c:dPt>
          <c:dPt>
            <c:idx val="8"/>
            <c:invertIfNegative val="0"/>
            <c:bubble3D val="0"/>
            <c:spPr>
              <a:solidFill>
                <a:srgbClr val="25F4EE"/>
              </a:solidFill>
              <a:effectLst/>
            </c:spPr>
            <c:extLst>
              <c:ext xmlns:c16="http://schemas.microsoft.com/office/drawing/2014/chart" uri="{C3380CC4-5D6E-409C-BE32-E72D297353CC}">
                <c16:uniqueId val="{00000011-6412-44F3-8006-3D7B940968F8}"/>
              </c:ext>
            </c:extLst>
          </c:dPt>
          <c:dLbls>
            <c:numFmt formatCode="#,##0" sourceLinked="0"/>
            <c:spPr>
              <a:noFill/>
              <a:ln>
                <a:noFill/>
              </a:ln>
              <a:effectLst/>
            </c:spPr>
            <c:txPr>
              <a:bodyPr/>
              <a:lstStyle/>
              <a:p>
                <a:pPr>
                  <a:defRPr sz="1300" b="0" i="0" u="none" strike="noStrike">
                    <a:solidFill>
                      <a:srgbClr val="FFFFF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ChatGPT</c:v>
                </c:pt>
                <c:pt idx="1">
                  <c:v>Google Gemini</c:v>
                </c:pt>
                <c:pt idx="2">
                  <c:v>Microsoft Copilot</c:v>
                </c:pt>
                <c:pt idx="3">
                  <c:v>Claude</c:v>
                </c:pt>
                <c:pt idx="4">
                  <c:v>Perplexity AI</c:v>
                </c:pt>
                <c:pt idx="5">
                  <c:v>Grammarly</c:v>
                </c:pt>
                <c:pt idx="6">
                  <c:v>DeepSeek</c:v>
                </c:pt>
                <c:pt idx="7">
                  <c:v>Meta AI</c:v>
                </c:pt>
                <c:pt idx="8">
                  <c:v>Copilot</c:v>
                </c:pt>
              </c:strCache>
            </c:strRef>
          </c:cat>
          <c:val>
            <c:numRef>
              <c:f>Sheet1!$B$2:$B$10</c:f>
              <c:numCache>
                <c:formatCode>General</c:formatCode>
                <c:ptCount val="9"/>
                <c:pt idx="0">
                  <c:v>133</c:v>
                </c:pt>
                <c:pt idx="1">
                  <c:v>41</c:v>
                </c:pt>
                <c:pt idx="2">
                  <c:v>33</c:v>
                </c:pt>
                <c:pt idx="3">
                  <c:v>31</c:v>
                </c:pt>
                <c:pt idx="4">
                  <c:v>25</c:v>
                </c:pt>
                <c:pt idx="5">
                  <c:v>13</c:v>
                </c:pt>
                <c:pt idx="6">
                  <c:v>10</c:v>
                </c:pt>
                <c:pt idx="7">
                  <c:v>10</c:v>
                </c:pt>
                <c:pt idx="8">
                  <c:v>4</c:v>
                </c:pt>
              </c:numCache>
            </c:numRef>
          </c:val>
          <c:extLst>
            <c:ext xmlns:c16="http://schemas.microsoft.com/office/drawing/2014/chart" uri="{C3380CC4-5D6E-409C-BE32-E72D297353CC}">
              <c16:uniqueId val="{00000012-6412-44F3-8006-3D7B940968F8}"/>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E6E1FF"/>
                </a:solidFill>
                <a:latin typeface="+mn-lt"/>
              </a:defRPr>
            </a:pPr>
            <a:endParaRPr lang="en-US"/>
          </a:p>
        </c:txPr>
        <c:crossAx val="2094734552"/>
        <c:crosses val="autoZero"/>
        <c:auto val="1"/>
        <c:lblAlgn val="ctr"/>
        <c:lblOffset val="100"/>
        <c:noMultiLvlLbl val="1"/>
      </c:catAx>
      <c:valAx>
        <c:axId val="2094734552"/>
        <c:scaling>
          <c:orientation val="minMax"/>
          <c:max val="15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Sum of Productivity Score</c:v>
                </c:pt>
              </c:strCache>
            </c:strRef>
          </c:tx>
          <c:spPr>
            <a:solidFill>
              <a:srgbClr val="9B5CFF"/>
            </a:solidFill>
            <a:effectLst/>
          </c:spPr>
          <c:invertIfNegative val="0"/>
          <c:dLbls>
            <c:numFmt formatCode="#,##0" sourceLinked="0"/>
            <c:spPr>
              <a:noFill/>
              <a:ln>
                <a:noFill/>
              </a:ln>
              <a:effectLst/>
            </c:spPr>
            <c:txPr>
              <a:bodyPr/>
              <a:lstStyle/>
              <a:p>
                <a:pPr>
                  <a:defRPr sz="1400" b="0" i="0" u="none" strike="noStrike">
                    <a:solidFill>
                      <a:srgbClr val="FFFFF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Students</c:v>
                </c:pt>
                <c:pt idx="1">
                  <c:v>Professionals</c:v>
                </c:pt>
              </c:strCache>
            </c:strRef>
          </c:cat>
          <c:val>
            <c:numRef>
              <c:f>Sheet1!$B$2:$B$3</c:f>
              <c:numCache>
                <c:formatCode>General</c:formatCode>
                <c:ptCount val="2"/>
                <c:pt idx="0">
                  <c:v>860</c:v>
                </c:pt>
                <c:pt idx="1">
                  <c:v>770</c:v>
                </c:pt>
              </c:numCache>
            </c:numRef>
          </c:val>
          <c:extLst>
            <c:ext xmlns:c16="http://schemas.microsoft.com/office/drawing/2014/chart" uri="{C3380CC4-5D6E-409C-BE32-E72D297353CC}">
              <c16:uniqueId val="{00000000-5B16-4B1F-BDF2-50E062554741}"/>
            </c:ext>
          </c:extLst>
        </c:ser>
        <c:ser>
          <c:idx val="1"/>
          <c:order val="1"/>
          <c:tx>
            <c:strRef>
              <c:f>Sheet1!$C$1</c:f>
              <c:strCache>
                <c:ptCount val="1"/>
                <c:pt idx="0">
                  <c:v>Sum of Satisfaction Score</c:v>
                </c:pt>
              </c:strCache>
            </c:strRef>
          </c:tx>
          <c:spPr>
            <a:solidFill>
              <a:srgbClr val="25F4EE"/>
            </a:solidFill>
            <a:effectLst/>
          </c:spPr>
          <c:invertIfNegative val="0"/>
          <c:dLbls>
            <c:numFmt formatCode="#,##0" sourceLinked="0"/>
            <c:spPr>
              <a:noFill/>
              <a:ln>
                <a:noFill/>
              </a:ln>
              <a:effectLst/>
            </c:spPr>
            <c:txPr>
              <a:bodyPr/>
              <a:lstStyle/>
              <a:p>
                <a:pPr>
                  <a:defRPr sz="1400" b="0" i="0" u="none" strike="noStrike">
                    <a:solidFill>
                      <a:srgbClr val="FFFFF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Students</c:v>
                </c:pt>
                <c:pt idx="1">
                  <c:v>Professionals</c:v>
                </c:pt>
              </c:strCache>
            </c:strRef>
          </c:cat>
          <c:val>
            <c:numRef>
              <c:f>Sheet1!$C$2:$C$3</c:f>
              <c:numCache>
                <c:formatCode>General</c:formatCode>
                <c:ptCount val="2"/>
                <c:pt idx="0">
                  <c:v>975</c:v>
                </c:pt>
                <c:pt idx="1">
                  <c:v>845</c:v>
                </c:pt>
              </c:numCache>
            </c:numRef>
          </c:val>
          <c:extLst>
            <c:ext xmlns:c16="http://schemas.microsoft.com/office/drawing/2014/chart" uri="{C3380CC4-5D6E-409C-BE32-E72D297353CC}">
              <c16:uniqueId val="{00000001-5B16-4B1F-BDF2-50E06255474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E6E1FF"/>
                </a:solidFill>
                <a:latin typeface="+mn-lt"/>
              </a:defRPr>
            </a:pPr>
            <a:endParaRPr lang="en-US"/>
          </a:p>
        </c:txPr>
        <c:crossAx val="2094734552"/>
        <c:crosses val="autoZero"/>
        <c:auto val="1"/>
        <c:lblAlgn val="ctr"/>
        <c:lblOffset val="100"/>
        <c:noMultiLvlLbl val="1"/>
      </c:catAx>
      <c:valAx>
        <c:axId val="2094734552"/>
        <c:scaling>
          <c:orientation val="minMax"/>
          <c:max val="1200"/>
          <c:min val="0"/>
        </c:scaling>
        <c:delete val="0"/>
        <c:axPos val="l"/>
        <c:majorGridlines>
          <c:spPr>
            <a:ln w="9525" cap="flat">
              <a:solidFill>
                <a:srgbClr val="2A23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7B1E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E6E1F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Would recommend</c:v>
                </c:pt>
              </c:strCache>
            </c:strRef>
          </c:tx>
          <c:spPr>
            <a:solidFill>
              <a:schemeClr val="accent1"/>
            </a:solidFill>
            <a:ln w="9525" cap="flat">
              <a:solidFill>
                <a:srgbClr val="F9F9F9"/>
              </a:solidFill>
              <a:prstDash val="solid"/>
              <a:round/>
            </a:ln>
            <a:effectLst/>
          </c:spPr>
          <c:dPt>
            <c:idx val="0"/>
            <c:bubble3D val="0"/>
            <c:spPr>
              <a:solidFill>
                <a:srgbClr val="9B5CFF"/>
              </a:solidFill>
              <a:ln w="38100" cap="flat">
                <a:solidFill>
                  <a:srgbClr val="0E0B24"/>
                </a:solidFill>
                <a:prstDash val="solid"/>
                <a:round/>
              </a:ln>
              <a:effectLst/>
            </c:spPr>
            <c:extLst>
              <c:ext xmlns:c16="http://schemas.microsoft.com/office/drawing/2014/chart" uri="{C3380CC4-5D6E-409C-BE32-E72D297353CC}">
                <c16:uniqueId val="{00000001-0C40-41AE-83B8-B64A14E5AAA9}"/>
              </c:ext>
            </c:extLst>
          </c:dPt>
          <c:dPt>
            <c:idx val="1"/>
            <c:bubble3D val="0"/>
            <c:spPr>
              <a:solidFill>
                <a:srgbClr val="25F4EE"/>
              </a:solidFill>
              <a:ln w="38100" cap="flat">
                <a:solidFill>
                  <a:srgbClr val="0E0B24"/>
                </a:solidFill>
                <a:prstDash val="solid"/>
                <a:round/>
              </a:ln>
              <a:effectLst/>
            </c:spPr>
            <c:extLst>
              <c:ext xmlns:c16="http://schemas.microsoft.com/office/drawing/2014/chart" uri="{C3380CC4-5D6E-409C-BE32-E72D297353CC}">
                <c16:uniqueId val="{00000003-0C40-41AE-83B8-B64A14E5AAA9}"/>
              </c:ext>
            </c:extLst>
          </c:dPt>
          <c:dPt>
            <c:idx val="2"/>
            <c:bubble3D val="0"/>
            <c:spPr>
              <a:solidFill>
                <a:srgbClr val="2F7BFF"/>
              </a:solidFill>
              <a:ln w="38100" cap="flat">
                <a:solidFill>
                  <a:srgbClr val="0E0B24"/>
                </a:solidFill>
                <a:prstDash val="solid"/>
                <a:round/>
              </a:ln>
              <a:effectLst/>
            </c:spPr>
            <c:extLst>
              <c:ext xmlns:c16="http://schemas.microsoft.com/office/drawing/2014/chart" uri="{C3380CC4-5D6E-409C-BE32-E72D297353CC}">
                <c16:uniqueId val="{00000005-0C40-41AE-83B8-B64A14E5AAA9}"/>
              </c:ext>
            </c:extLst>
          </c:dPt>
          <c:dLbls>
            <c:dLbl>
              <c:idx val="0"/>
              <c:numFmt formatCode="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C40-41AE-83B8-B64A14E5AAA9}"/>
                </c:ext>
              </c:extLst>
            </c:dLbl>
            <c:dLbl>
              <c:idx val="1"/>
              <c:numFmt formatCode="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C40-41AE-83B8-B64A14E5AAA9}"/>
                </c:ext>
              </c:extLst>
            </c:dLbl>
            <c:dLbl>
              <c:idx val="2"/>
              <c:numFmt formatCode="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C40-41AE-83B8-B64A14E5AAA9}"/>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Yes</c:v>
                </c:pt>
                <c:pt idx="1">
                  <c:v>No</c:v>
                </c:pt>
                <c:pt idx="2">
                  <c:v>Maybe</c:v>
                </c:pt>
              </c:strCache>
            </c:strRef>
          </c:cat>
          <c:val>
            <c:numRef>
              <c:f>Sheet1!$B$2:$B$4</c:f>
              <c:numCache>
                <c:formatCode>General</c:formatCode>
                <c:ptCount val="3"/>
                <c:pt idx="0">
                  <c:v>183</c:v>
                </c:pt>
                <c:pt idx="1">
                  <c:v>73</c:v>
                </c:pt>
                <c:pt idx="2">
                  <c:v>44</c:v>
                </c:pt>
              </c:numCache>
            </c:numRef>
          </c:val>
          <c:extLst>
            <c:ext xmlns:c16="http://schemas.microsoft.com/office/drawing/2014/chart" uri="{C3380CC4-5D6E-409C-BE32-E72D297353CC}">
              <c16:uniqueId val="{00000006-0C40-41AE-83B8-B64A14E5AAA9}"/>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500">
              <a:solidFill>
                <a:srgbClr val="E6E1F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055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a Power BI dashboard on AI usage: who uses AI, which tools they pick, why they use them, and how much it helps. The data covers 300 users, split between students and professionals.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300 users, about 3 hours of AI use per day, about 6 hours of time saved on average, and an average productivity score of 5.44 out of 10. Small note: the KPI card on the dashboard shows 288 but the charts add up to 300, so check how that card is filtered or counted.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donut shows 158 students (52.67%) and 142 professionals (47.33%). Both groups are well represented, so comparisons between them are fair, though students are slightly the bigger group.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is the clear leader with around 133 users. Google Gemini, Microsoft Copilot and Claude form the second tier. The rest are niche. Numbers are read off the dashboard bars, so treat them as approximate.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eight purposes. The short descriptions are generic explanations of each category. The flow (Sankey) chart shows how students and professionals differ: studying is only for students, while customer support and office work are mainly professional.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a sum of scores, not an average. Students have higher totals on both productivity and satisfaction, partly because there are more of them. In both groups satisfaction is higher than productivity.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three in five users would recommend AI tools. About one in four would not, and about one in seven is unsure. Overall sentiment is positive, but not unanimous.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AI is widely used, ChatGPT leads the market, the productivity gain is moderate, and most users would recommend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6400800" cy="173736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
        <p:nvSpPr>
          <p:cNvPr id="3" name="Text 0"/>
          <p:cNvSpPr>
            <a:spLocks noGrp="1"/>
          </p:cNvSpPr>
          <p:nvPr>
            <p:ph type="body" idx="101" hasCustomPrompt="1"/>
          </p:nvPr>
        </p:nvSpPr>
        <p:spPr>
          <a:xfrm>
            <a:off x="640080" y="3703320"/>
            <a:ext cx="6035040" cy="7772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27648"/>
            <a:ext cx="5486400" cy="320040"/>
          </a:xfrm>
          <a:prstGeom prst="rect">
            <a:avLst/>
          </a:prstGeom>
          <a:noFill/>
          <a:ln/>
        </p:spPr>
        <p:txBody>
          <a:bodyPr wrap="square" lIns="0" tIns="0" rIns="0" bIns="0" rtlCol="0" anchor="ctr"/>
          <a:lstStyle/>
          <a:p>
            <a:pPr marL="0" indent="0">
              <a:buNone/>
            </a:pPr>
            <a:r>
              <a:rPr lang="en-US" sz="1000" kern="0" spc="200" dirty="0">
                <a:solidFill>
                  <a:srgbClr val="25F4EE"/>
                </a:solidFill>
                <a:latin typeface="Courier New" pitchFamily="34" charset="0"/>
                <a:ea typeface="Courier New" pitchFamily="34" charset="-122"/>
                <a:cs typeface="Courier New" pitchFamily="34" charset="-120"/>
              </a:rPr>
              <a:t>AI_USAGE // IMPACT_ANALYSIS</a:t>
            </a:r>
            <a:endParaRPr lang="en-US" sz="1000" dirty="0"/>
          </a:p>
        </p:txBody>
      </p:sp>
      <p:sp>
        <p:nvSpPr>
          <p:cNvPr id="3" name="Text 1"/>
          <p:cNvSpPr>
            <a:spLocks noGrp="1"/>
          </p:cNvSpPr>
          <p:nvPr>
            <p:ph type="title" idx="101" hasCustomPrompt="1"/>
          </p:nvPr>
        </p:nvSpPr>
        <p:spPr>
          <a:xfrm>
            <a:off x="548640" y="530352"/>
            <a:ext cx="11064240" cy="7772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5F4EE"/>
                </a:solidFill>
                <a:latin typeface="Courier New"/>
                <a:ea typeface="Courier New"/>
                <a:cs typeface="Courier New"/>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5F4EE"/>
                </a:solidFill>
                <a:latin typeface="Courier New"/>
                <a:ea typeface="Courier New"/>
                <a:cs typeface="Courier New"/>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280160"/>
            <a:ext cx="6858000" cy="365760"/>
          </a:xfrm>
          <a:prstGeom prst="rect">
            <a:avLst/>
          </a:prstGeom>
          <a:noFill/>
          <a:ln/>
        </p:spPr>
        <p:txBody>
          <a:bodyPr wrap="square" lIns="0" tIns="0" rIns="0" bIns="0" rtlCol="0" anchor="t"/>
          <a:lstStyle/>
          <a:p>
            <a:pPr marL="0" indent="0">
              <a:buNone/>
            </a:pPr>
            <a:r>
              <a:rPr lang="en-US" sz="1400" b="1" kern="0" spc="300" dirty="0">
                <a:solidFill>
                  <a:srgbClr val="25F4EE"/>
                </a:solidFill>
                <a:latin typeface="Courier New" pitchFamily="34" charset="0"/>
                <a:ea typeface="Courier New" pitchFamily="34" charset="-122"/>
                <a:cs typeface="Courier New" pitchFamily="34" charset="-120"/>
              </a:rPr>
              <a:t>// POWER BI DASHBOARD :: DATA STORY</a:t>
            </a:r>
            <a:endParaRPr lang="en-US" sz="1400" dirty="0"/>
          </a:p>
        </p:txBody>
      </p:sp>
      <p:sp>
        <p:nvSpPr>
          <p:cNvPr id="3" name="Glitch cyan"/>
          <p:cNvSpPr txBox="1"/>
          <p:nvPr/>
        </p:nvSpPr>
        <p:spPr>
          <a:xfrm>
            <a:off x="608076" y="1828800"/>
            <a:ext cx="6400800" cy="1737360"/>
          </a:xfrm>
          <a:prstGeom prst="rect">
            <a:avLst/>
          </a:prstGeom>
          <a:noFill/>
          <a:ln/>
        </p:spPr>
        <p:txBody>
          <a:bodyPr wrap="square" lIns="0" tIns="0" rIns="0" bIns="0" rtlCol="0" anchor="t"/>
          <a:lstStyle/>
          <a:p>
            <a:pPr marL="0" indent="0">
              <a:buNone/>
            </a:pPr>
            <a:r>
              <a:rPr lang="en-US" sz="4200" b="1" dirty="0">
                <a:solidFill>
                  <a:srgbClr val="25F4EE">
                    <a:alpha val="45000"/>
                  </a:srgbClr>
                </a:solidFill>
              </a:rPr>
              <a:t>AI USAGE AND IMPACT ANALYSIS</a:t>
            </a:r>
            <a:endParaRPr lang="en-US" sz="4200" dirty="0"/>
          </a:p>
        </p:txBody>
      </p:sp>
      <p:sp>
        <p:nvSpPr>
          <p:cNvPr id="4" name="Glitch magenta"/>
          <p:cNvSpPr txBox="1"/>
          <p:nvPr/>
        </p:nvSpPr>
        <p:spPr>
          <a:xfrm>
            <a:off x="672084" y="1847088"/>
            <a:ext cx="6400800" cy="1737360"/>
          </a:xfrm>
          <a:prstGeom prst="rect">
            <a:avLst/>
          </a:prstGeom>
          <a:noFill/>
          <a:ln/>
        </p:spPr>
        <p:txBody>
          <a:bodyPr wrap="square" lIns="0" tIns="0" rIns="0" bIns="0" rtlCol="0" anchor="t"/>
          <a:lstStyle/>
          <a:p>
            <a:pPr marL="0" indent="0">
              <a:buNone/>
            </a:pPr>
            <a:r>
              <a:rPr lang="en-US" sz="4200" b="1" dirty="0">
                <a:solidFill>
                  <a:srgbClr val="FF2E93">
                    <a:alpha val="45000"/>
                  </a:srgbClr>
                </a:solidFill>
              </a:rPr>
              <a:t>AI USAGE AND IMPACT ANALYSIS</a:t>
            </a:r>
            <a:endParaRPr lang="en-US" sz="4200" dirty="0"/>
          </a:p>
        </p:txBody>
      </p:sp>
      <p:sp>
        <p:nvSpPr>
          <p:cNvPr id="5" name="Text 0"/>
          <p:cNvSpPr>
            <a:spLocks noGrp="1"/>
          </p:cNvSpPr>
          <p:nvPr>
            <p:ph type="title" idx="100" hasCustomPrompt="1"/>
          </p:nvPr>
        </p:nvSpPr>
        <p:spPr>
          <a:xfrm>
            <a:off x="640080" y="1828800"/>
            <a:ext cx="6400800" cy="1737360"/>
          </a:xfrm>
          <a:prstGeom prst="rect">
            <a:avLst/>
          </a:prstGeom>
          <a:noFill/>
          <a:ln/>
        </p:spPr>
        <p:txBody>
          <a:bodyPr wrap="square" lIns="0" tIns="0" rIns="0" bIns="0" rtlCol="0" anchor="t"/>
          <a:lstStyle/>
          <a:p>
            <a:pPr marL="0" indent="0" algn="l">
              <a:buNone/>
            </a:pPr>
            <a:r>
              <a:rPr lang="en-US" sz="4200" b="1" dirty="0">
                <a:solidFill>
                  <a:schemeClr val="bg1"/>
                </a:solidFill>
              </a:rPr>
              <a:t>AI USAGE AND IMPACT ANALYSIS</a:t>
            </a:r>
            <a:endParaRPr lang="en-US" sz="4200" dirty="0"/>
          </a:p>
        </p:txBody>
      </p:sp>
      <p:sp>
        <p:nvSpPr>
          <p:cNvPr id="6" name="Text 0"/>
          <p:cNvSpPr>
            <a:spLocks noGrp="1"/>
          </p:cNvSpPr>
          <p:nvPr>
            <p:ph type="body" idx="101" hasCustomPrompt="1"/>
          </p:nvPr>
        </p:nvSpPr>
        <p:spPr>
          <a:xfrm>
            <a:off x="640080" y="3703320"/>
            <a:ext cx="6035040" cy="777240"/>
          </a:xfrm>
          <a:prstGeom prst="rect">
            <a:avLst/>
          </a:prstGeom>
          <a:noFill/>
          <a:ln/>
        </p:spPr>
        <p:txBody>
          <a:bodyPr wrap="square" lIns="0" tIns="0" rIns="0" bIns="0" rtlCol="0" anchor="t"/>
          <a:lstStyle/>
          <a:p>
            <a:pPr marL="0" indent="0" algn="l">
              <a:buNone/>
            </a:pPr>
            <a:r>
              <a:rPr lang="en-US" sz="2000" dirty="0">
                <a:solidFill>
                  <a:schemeClr val="bg2"/>
                </a:solidFill>
              </a:rPr>
              <a:t>How 300 students and professionals use AI tools, and what they get out of them</a:t>
            </a:r>
            <a:endParaRPr lang="en-US" sz="2000" dirty="0"/>
          </a:p>
        </p:txBody>
      </p:sp>
      <p:sp>
        <p:nvSpPr>
          <p:cNvPr id="7" name="Core label"/>
          <p:cNvSpPr txBox="1"/>
          <p:nvPr/>
        </p:nvSpPr>
        <p:spPr>
          <a:xfrm>
            <a:off x="8412480" y="2578608"/>
            <a:ext cx="1591056" cy="822960"/>
          </a:xfrm>
          <a:prstGeom prst="rect">
            <a:avLst/>
          </a:prstGeom>
          <a:noFill/>
          <a:ln/>
        </p:spPr>
        <p:txBody>
          <a:bodyPr wrap="square" lIns="0" tIns="0" rIns="0" bIns="0" rtlCol="0" anchor="ctr"/>
          <a:lstStyle/>
          <a:p>
            <a:pPr marL="0" indent="0" algn="ctr">
              <a:buNone/>
            </a:pPr>
            <a:r>
              <a:rPr lang="en-US" sz="4800" b="1" dirty="0">
                <a:solidFill>
                  <a:schemeClr val="bg1"/>
                </a:solidFill>
                <a:latin typeface="Courier New" pitchFamily="34" charset="0"/>
                <a:ea typeface="Courier New" pitchFamily="34" charset="-122"/>
                <a:cs typeface="Courier New" pitchFamily="34" charset="-120"/>
              </a:rPr>
              <a:t>AI</a:t>
            </a:r>
            <a:endParaRPr lang="en-US" sz="4800" dirty="0"/>
          </a:p>
        </p:txBody>
      </p:sp>
      <p:sp>
        <p:nvSpPr>
          <p:cNvPr id="8" name="Panel glow"/>
          <p:cNvSpPr/>
          <p:nvPr/>
        </p:nvSpPr>
        <p:spPr>
          <a:xfrm>
            <a:off x="640080" y="4663440"/>
            <a:ext cx="2011680" cy="777240"/>
          </a:xfrm>
          <a:custGeom>
            <a:avLst/>
            <a:gdLst/>
            <a:ahLst/>
            <a:cxnLst/>
            <a:rect l="l" t="t" r="r" b="b"/>
            <a:pathLst>
              <a:path w="2011680" h="777240">
                <a:moveTo>
                  <a:pt x="0" y="0"/>
                </a:moveTo>
                <a:lnTo>
                  <a:pt x="1847088" y="0"/>
                </a:lnTo>
                <a:lnTo>
                  <a:pt x="2011680" y="164592"/>
                </a:lnTo>
                <a:lnTo>
                  <a:pt x="2011680" y="777240"/>
                </a:lnTo>
                <a:lnTo>
                  <a:pt x="164592" y="777240"/>
                </a:lnTo>
                <a:lnTo>
                  <a:pt x="0" y="612648"/>
                </a:lnTo>
                <a:close/>
              </a:path>
            </a:pathLst>
          </a:custGeom>
          <a:ln w="63500">
            <a:solidFill>
              <a:srgbClr val="25F4EE">
                <a:alpha val="14000"/>
              </a:srgbClr>
            </a:solidFill>
            <a:prstDash val="solid"/>
          </a:ln>
        </p:spPr>
      </p:sp>
      <p:sp>
        <p:nvSpPr>
          <p:cNvPr id="9" name="HUD panel"/>
          <p:cNvSpPr/>
          <p:nvPr/>
        </p:nvSpPr>
        <p:spPr>
          <a:xfrm>
            <a:off x="640080" y="4663440"/>
            <a:ext cx="2011680" cy="777240"/>
          </a:xfrm>
          <a:custGeom>
            <a:avLst/>
            <a:gdLst/>
            <a:ahLst/>
            <a:cxnLst/>
            <a:rect l="l" t="t" r="r" b="b"/>
            <a:pathLst>
              <a:path w="2011680" h="777240">
                <a:moveTo>
                  <a:pt x="0" y="0"/>
                </a:moveTo>
                <a:lnTo>
                  <a:pt x="1847088" y="0"/>
                </a:lnTo>
                <a:lnTo>
                  <a:pt x="2011680" y="164592"/>
                </a:lnTo>
                <a:lnTo>
                  <a:pt x="2011680" y="777240"/>
                </a:lnTo>
                <a:lnTo>
                  <a:pt x="164592" y="777240"/>
                </a:lnTo>
                <a:lnTo>
                  <a:pt x="0" y="612648"/>
                </a:lnTo>
                <a:close/>
              </a:path>
            </a:pathLst>
          </a:custGeom>
          <a:solidFill>
            <a:schemeClr val="tx2">
              <a:alpha val="88000"/>
            </a:schemeClr>
          </a:solidFill>
          <a:ln w="15875">
            <a:solidFill>
              <a:srgbClr val="25F4EE">
                <a:alpha val="90000"/>
              </a:srgbClr>
            </a:solidFill>
            <a:prstDash val="solid"/>
          </a:ln>
        </p:spPr>
      </p:sp>
      <p:sp>
        <p:nvSpPr>
          <p:cNvPr id="10" name="Text 8"/>
          <p:cNvSpPr txBox="1"/>
          <p:nvPr/>
        </p:nvSpPr>
        <p:spPr>
          <a:xfrm>
            <a:off x="640080" y="4663440"/>
            <a:ext cx="2011680" cy="777240"/>
          </a:xfrm>
          <a:prstGeom prst="rect">
            <a:avLst/>
          </a:prstGeom>
          <a:noFill/>
          <a:ln/>
        </p:spPr>
        <p:txBody>
          <a:bodyPr wrap="square" lIns="0" tIns="0" rIns="0" bIns="0" rtlCol="0" anchor="ctr"/>
          <a:lstStyle/>
          <a:p>
            <a:pPr marL="0" indent="0" algn="ctr">
              <a:buNone/>
            </a:pPr>
            <a:r>
              <a:rPr lang="en-US" sz="2400" b="1" dirty="0">
                <a:solidFill>
                  <a:srgbClr val="25F4EE"/>
                </a:solidFill>
                <a:latin typeface="Courier New" pitchFamily="34" charset="0"/>
                <a:ea typeface="Courier New" pitchFamily="34" charset="-122"/>
                <a:cs typeface="Courier New" pitchFamily="34" charset="-120"/>
              </a:rPr>
              <a:t>300 </a:t>
            </a:r>
            <a:r>
              <a:rPr lang="en-US" sz="1200" dirty="0">
                <a:solidFill>
                  <a:schemeClr val="bg1"/>
                </a:solidFill>
                <a:latin typeface="Courier New" pitchFamily="34" charset="0"/>
                <a:ea typeface="Courier New" pitchFamily="34" charset="-122"/>
                <a:cs typeface="Courier New" pitchFamily="34" charset="-120"/>
              </a:rPr>
              <a:t>USERS</a:t>
            </a:r>
            <a:endParaRPr lang="en-US" sz="2400" dirty="0"/>
          </a:p>
        </p:txBody>
      </p:sp>
      <p:sp>
        <p:nvSpPr>
          <p:cNvPr id="11" name="Panel glow"/>
          <p:cNvSpPr/>
          <p:nvPr/>
        </p:nvSpPr>
        <p:spPr>
          <a:xfrm>
            <a:off x="2880360" y="4663440"/>
            <a:ext cx="2011680" cy="777240"/>
          </a:xfrm>
          <a:custGeom>
            <a:avLst/>
            <a:gdLst/>
            <a:ahLst/>
            <a:cxnLst/>
            <a:rect l="l" t="t" r="r" b="b"/>
            <a:pathLst>
              <a:path w="2011680" h="777240">
                <a:moveTo>
                  <a:pt x="0" y="0"/>
                </a:moveTo>
                <a:lnTo>
                  <a:pt x="1847088" y="0"/>
                </a:lnTo>
                <a:lnTo>
                  <a:pt x="2011680" y="164592"/>
                </a:lnTo>
                <a:lnTo>
                  <a:pt x="2011680" y="777240"/>
                </a:lnTo>
                <a:lnTo>
                  <a:pt x="164592" y="777240"/>
                </a:lnTo>
                <a:lnTo>
                  <a:pt x="0" y="612648"/>
                </a:lnTo>
                <a:close/>
              </a:path>
            </a:pathLst>
          </a:custGeom>
          <a:ln w="63500">
            <a:solidFill>
              <a:srgbClr val="FF2E93">
                <a:alpha val="14000"/>
              </a:srgbClr>
            </a:solidFill>
            <a:prstDash val="solid"/>
          </a:ln>
        </p:spPr>
      </p:sp>
      <p:sp>
        <p:nvSpPr>
          <p:cNvPr id="12" name="HUD panel"/>
          <p:cNvSpPr/>
          <p:nvPr/>
        </p:nvSpPr>
        <p:spPr>
          <a:xfrm>
            <a:off x="2880360" y="4663440"/>
            <a:ext cx="2011680" cy="777240"/>
          </a:xfrm>
          <a:custGeom>
            <a:avLst/>
            <a:gdLst/>
            <a:ahLst/>
            <a:cxnLst/>
            <a:rect l="l" t="t" r="r" b="b"/>
            <a:pathLst>
              <a:path w="2011680" h="777240">
                <a:moveTo>
                  <a:pt x="0" y="0"/>
                </a:moveTo>
                <a:lnTo>
                  <a:pt x="1847088" y="0"/>
                </a:lnTo>
                <a:lnTo>
                  <a:pt x="2011680" y="164592"/>
                </a:lnTo>
                <a:lnTo>
                  <a:pt x="2011680" y="777240"/>
                </a:lnTo>
                <a:lnTo>
                  <a:pt x="164592" y="777240"/>
                </a:lnTo>
                <a:lnTo>
                  <a:pt x="0" y="612648"/>
                </a:lnTo>
                <a:close/>
              </a:path>
            </a:pathLst>
          </a:custGeom>
          <a:solidFill>
            <a:schemeClr val="tx2">
              <a:alpha val="88000"/>
            </a:schemeClr>
          </a:solidFill>
          <a:ln w="15875">
            <a:solidFill>
              <a:srgbClr val="FF2E93">
                <a:alpha val="90000"/>
              </a:srgbClr>
            </a:solidFill>
            <a:prstDash val="solid"/>
          </a:ln>
        </p:spPr>
      </p:sp>
      <p:sp>
        <p:nvSpPr>
          <p:cNvPr id="13" name="Text 11"/>
          <p:cNvSpPr txBox="1"/>
          <p:nvPr/>
        </p:nvSpPr>
        <p:spPr>
          <a:xfrm>
            <a:off x="2880360" y="4663440"/>
            <a:ext cx="2011680" cy="777240"/>
          </a:xfrm>
          <a:prstGeom prst="rect">
            <a:avLst/>
          </a:prstGeom>
          <a:noFill/>
          <a:ln/>
        </p:spPr>
        <p:txBody>
          <a:bodyPr wrap="square" lIns="0" tIns="0" rIns="0" bIns="0" rtlCol="0" anchor="ctr"/>
          <a:lstStyle/>
          <a:p>
            <a:pPr marL="0" indent="0" algn="ctr">
              <a:buNone/>
            </a:pPr>
            <a:r>
              <a:rPr lang="en-US" sz="2400" b="1" dirty="0">
                <a:solidFill>
                  <a:srgbClr val="FF2E93"/>
                </a:solidFill>
                <a:latin typeface="Courier New" pitchFamily="34" charset="0"/>
                <a:ea typeface="Courier New" pitchFamily="34" charset="-122"/>
                <a:cs typeface="Courier New" pitchFamily="34" charset="-120"/>
              </a:rPr>
              <a:t>9 </a:t>
            </a:r>
            <a:r>
              <a:rPr lang="en-US" sz="1200" dirty="0">
                <a:solidFill>
                  <a:schemeClr val="bg1"/>
                </a:solidFill>
                <a:latin typeface="Courier New" pitchFamily="34" charset="0"/>
                <a:ea typeface="Courier New" pitchFamily="34" charset="-122"/>
                <a:cs typeface="Courier New" pitchFamily="34" charset="-120"/>
              </a:rPr>
              <a:t>AI TOOLS</a:t>
            </a:r>
            <a:endParaRPr lang="en-US" sz="2400" dirty="0"/>
          </a:p>
        </p:txBody>
      </p:sp>
      <p:sp>
        <p:nvSpPr>
          <p:cNvPr id="14" name="Panel glow"/>
          <p:cNvSpPr/>
          <p:nvPr/>
        </p:nvSpPr>
        <p:spPr>
          <a:xfrm>
            <a:off x="5120640" y="4663440"/>
            <a:ext cx="2011680" cy="777240"/>
          </a:xfrm>
          <a:custGeom>
            <a:avLst/>
            <a:gdLst/>
            <a:ahLst/>
            <a:cxnLst/>
            <a:rect l="l" t="t" r="r" b="b"/>
            <a:pathLst>
              <a:path w="2011680" h="777240">
                <a:moveTo>
                  <a:pt x="0" y="0"/>
                </a:moveTo>
                <a:lnTo>
                  <a:pt x="1847088" y="0"/>
                </a:lnTo>
                <a:lnTo>
                  <a:pt x="2011680" y="164592"/>
                </a:lnTo>
                <a:lnTo>
                  <a:pt x="2011680" y="777240"/>
                </a:lnTo>
                <a:lnTo>
                  <a:pt x="164592" y="777240"/>
                </a:lnTo>
                <a:lnTo>
                  <a:pt x="0" y="612648"/>
                </a:lnTo>
                <a:close/>
              </a:path>
            </a:pathLst>
          </a:custGeom>
          <a:ln w="63500">
            <a:solidFill>
              <a:srgbClr val="9B5CFF">
                <a:alpha val="14000"/>
              </a:srgbClr>
            </a:solidFill>
            <a:prstDash val="solid"/>
          </a:ln>
        </p:spPr>
      </p:sp>
      <p:sp>
        <p:nvSpPr>
          <p:cNvPr id="15" name="HUD panel"/>
          <p:cNvSpPr/>
          <p:nvPr/>
        </p:nvSpPr>
        <p:spPr>
          <a:xfrm>
            <a:off x="5120640" y="4663440"/>
            <a:ext cx="2011680" cy="777240"/>
          </a:xfrm>
          <a:custGeom>
            <a:avLst/>
            <a:gdLst/>
            <a:ahLst/>
            <a:cxnLst/>
            <a:rect l="l" t="t" r="r" b="b"/>
            <a:pathLst>
              <a:path w="2011680" h="777240">
                <a:moveTo>
                  <a:pt x="0" y="0"/>
                </a:moveTo>
                <a:lnTo>
                  <a:pt x="1847088" y="0"/>
                </a:lnTo>
                <a:lnTo>
                  <a:pt x="2011680" y="164592"/>
                </a:lnTo>
                <a:lnTo>
                  <a:pt x="2011680" y="777240"/>
                </a:lnTo>
                <a:lnTo>
                  <a:pt x="164592" y="777240"/>
                </a:lnTo>
                <a:lnTo>
                  <a:pt x="0" y="612648"/>
                </a:lnTo>
                <a:close/>
              </a:path>
            </a:pathLst>
          </a:custGeom>
          <a:solidFill>
            <a:schemeClr val="tx2">
              <a:alpha val="88000"/>
            </a:schemeClr>
          </a:solidFill>
          <a:ln w="15875">
            <a:solidFill>
              <a:srgbClr val="9B5CFF">
                <a:alpha val="90000"/>
              </a:srgbClr>
            </a:solidFill>
            <a:prstDash val="solid"/>
          </a:ln>
        </p:spPr>
      </p:sp>
      <p:sp>
        <p:nvSpPr>
          <p:cNvPr id="16" name="Text 14"/>
          <p:cNvSpPr txBox="1"/>
          <p:nvPr/>
        </p:nvSpPr>
        <p:spPr>
          <a:xfrm>
            <a:off x="5120640" y="4663440"/>
            <a:ext cx="2011680" cy="777240"/>
          </a:xfrm>
          <a:prstGeom prst="rect">
            <a:avLst/>
          </a:prstGeom>
          <a:noFill/>
          <a:ln/>
        </p:spPr>
        <p:txBody>
          <a:bodyPr wrap="square" lIns="0" tIns="0" rIns="0" bIns="0" rtlCol="0" anchor="ctr"/>
          <a:lstStyle/>
          <a:p>
            <a:pPr marL="0" indent="0" algn="ctr">
              <a:buNone/>
            </a:pPr>
            <a:r>
              <a:rPr lang="en-US" sz="2400" b="1" dirty="0">
                <a:solidFill>
                  <a:srgbClr val="9B5CFF"/>
                </a:solidFill>
                <a:latin typeface="Courier New" pitchFamily="34" charset="0"/>
                <a:ea typeface="Courier New" pitchFamily="34" charset="-122"/>
                <a:cs typeface="Courier New" pitchFamily="34" charset="-120"/>
              </a:rPr>
              <a:t>8 </a:t>
            </a:r>
            <a:r>
              <a:rPr lang="en-US" sz="1200" dirty="0">
                <a:solidFill>
                  <a:schemeClr val="bg1"/>
                </a:solidFill>
                <a:latin typeface="Courier New" pitchFamily="34" charset="0"/>
                <a:ea typeface="Courier New" pitchFamily="34" charset="-122"/>
                <a:cs typeface="Courier New" pitchFamily="34" charset="-120"/>
              </a:rPr>
              <a:t>USE-CASES</a:t>
            </a:r>
            <a:endParaRPr lang="en-US" sz="2400" dirty="0"/>
          </a:p>
        </p:txBody>
      </p:sp>
      <p:sp>
        <p:nvSpPr>
          <p:cNvPr id="17" name="TextBox 16">
            <a:extLst>
              <a:ext uri="{FF2B5EF4-FFF2-40B4-BE49-F238E27FC236}">
                <a16:creationId xmlns:a16="http://schemas.microsoft.com/office/drawing/2014/main" id="{1BC85C7B-3C7D-4200-36BF-FDCE0C154B7A}"/>
              </a:ext>
            </a:extLst>
          </p:cNvPr>
          <p:cNvSpPr txBox="1"/>
          <p:nvPr/>
        </p:nvSpPr>
        <p:spPr>
          <a:xfrm>
            <a:off x="8626" y="5926344"/>
            <a:ext cx="4618008" cy="923330"/>
          </a:xfrm>
          <a:prstGeom prst="rect">
            <a:avLst/>
          </a:prstGeom>
          <a:noFill/>
          <a:effectLst>
            <a:glow rad="63500">
              <a:schemeClr val="accent2">
                <a:satMod val="175000"/>
                <a:alpha val="40000"/>
              </a:schemeClr>
            </a:glow>
          </a:effectLst>
        </p:spPr>
        <p:txBody>
          <a:bodyPr wrap="square" rtlCol="0">
            <a:spAutoFit/>
          </a:bodyPr>
          <a:lstStyle/>
          <a:p>
            <a:r>
              <a:rPr lang="en-IN" u="sng" dirty="0">
                <a:solidFill>
                  <a:schemeClr val="accent4"/>
                </a:solidFill>
                <a:latin typeface="Courier New" panose="02070309020205020404" pitchFamily="49" charset="0"/>
                <a:ea typeface="Calibri Light" panose="020F0302020204030204" pitchFamily="34" charset="0"/>
                <a:cs typeface="Courier New" panose="02070309020205020404" pitchFamily="49" charset="0"/>
              </a:rPr>
              <a:t>PRESENTS BY </a:t>
            </a:r>
            <a:r>
              <a:rPr lang="en-IN" dirty="0">
                <a:solidFill>
                  <a:schemeClr val="accent2"/>
                </a:solidFill>
                <a:latin typeface="Courier New" panose="02070309020205020404" pitchFamily="49" charset="0"/>
                <a:ea typeface="Calibri Light" panose="020F0302020204030204" pitchFamily="34" charset="0"/>
                <a:cs typeface="Courier New" panose="02070309020205020404" pitchFamily="49" charset="0"/>
              </a:rPr>
              <a:t>– </a:t>
            </a:r>
            <a:r>
              <a:rPr lang="en-IN" i="1" dirty="0">
                <a:solidFill>
                  <a:schemeClr val="accent2"/>
                </a:solidFill>
                <a:latin typeface="Courier New" panose="02070309020205020404" pitchFamily="49" charset="0"/>
                <a:ea typeface="Calibri Light" panose="020F0302020204030204" pitchFamily="34" charset="0"/>
                <a:cs typeface="Courier New" panose="02070309020205020404" pitchFamily="49" charset="0"/>
              </a:rPr>
              <a:t>RIMJHIM SRIVASTAVA</a:t>
            </a:r>
          </a:p>
          <a:p>
            <a:r>
              <a:rPr lang="en-IN" u="sng" dirty="0">
                <a:solidFill>
                  <a:schemeClr val="accent4"/>
                </a:solidFill>
                <a:latin typeface="Courier New" panose="02070309020205020404" pitchFamily="49" charset="0"/>
                <a:ea typeface="Calibri Light" panose="020F0302020204030204" pitchFamily="34" charset="0"/>
                <a:cs typeface="Courier New" panose="02070309020205020404" pitchFamily="49" charset="0"/>
              </a:rPr>
              <a:t>ROLL NUMBER</a:t>
            </a:r>
            <a:r>
              <a:rPr lang="en-IN" dirty="0">
                <a:solidFill>
                  <a:schemeClr val="accent4"/>
                </a:solidFill>
                <a:latin typeface="Courier New" panose="02070309020205020404" pitchFamily="49" charset="0"/>
                <a:ea typeface="Calibri Light" panose="020F0302020204030204" pitchFamily="34" charset="0"/>
                <a:cs typeface="Courier New" panose="02070309020205020404" pitchFamily="49" charset="0"/>
              </a:rPr>
              <a:t> </a:t>
            </a:r>
            <a:r>
              <a:rPr lang="en-IN" dirty="0">
                <a:solidFill>
                  <a:schemeClr val="accent2"/>
                </a:solidFill>
                <a:latin typeface="Courier New" panose="02070309020205020404" pitchFamily="49" charset="0"/>
                <a:ea typeface="Calibri Light" panose="020F0302020204030204" pitchFamily="34" charset="0"/>
                <a:cs typeface="Courier New" panose="02070309020205020404" pitchFamily="49" charset="0"/>
              </a:rPr>
              <a:t>– </a:t>
            </a:r>
            <a:r>
              <a:rPr lang="en-IN" i="1" dirty="0">
                <a:solidFill>
                  <a:schemeClr val="accent2"/>
                </a:solidFill>
                <a:latin typeface="Courier New" panose="02070309020205020404" pitchFamily="49" charset="0"/>
                <a:ea typeface="Calibri Light" panose="020F0302020204030204" pitchFamily="34" charset="0"/>
                <a:cs typeface="Courier New" panose="02070309020205020404" pitchFamily="49" charset="0"/>
              </a:rPr>
              <a:t>1250645139</a:t>
            </a:r>
          </a:p>
          <a:p>
            <a:r>
              <a:rPr lang="en-IN" u="sng" dirty="0">
                <a:solidFill>
                  <a:schemeClr val="accent4"/>
                </a:solidFill>
                <a:latin typeface="Courier New" panose="02070309020205020404" pitchFamily="49" charset="0"/>
                <a:ea typeface="Calibri Light" panose="020F0302020204030204" pitchFamily="34" charset="0"/>
                <a:cs typeface="Courier New" panose="02070309020205020404" pitchFamily="49" charset="0"/>
              </a:rPr>
              <a:t>FACULTY</a:t>
            </a:r>
            <a:r>
              <a:rPr lang="en-IN" dirty="0">
                <a:solidFill>
                  <a:schemeClr val="accent2"/>
                </a:solidFill>
                <a:latin typeface="Courier New" panose="02070309020205020404" pitchFamily="49" charset="0"/>
                <a:ea typeface="Calibri Light" panose="020F0302020204030204" pitchFamily="34" charset="0"/>
                <a:cs typeface="Courier New" panose="02070309020205020404" pitchFamily="49" charset="0"/>
              </a:rPr>
              <a:t> – </a:t>
            </a:r>
            <a:r>
              <a:rPr lang="en-IN" i="1" dirty="0">
                <a:solidFill>
                  <a:schemeClr val="accent2"/>
                </a:solidFill>
                <a:latin typeface="Courier New" panose="02070309020205020404" pitchFamily="49" charset="0"/>
                <a:ea typeface="Calibri Light" panose="020F0302020204030204" pitchFamily="34" charset="0"/>
                <a:cs typeface="Courier New" panose="02070309020205020404" pitchFamily="49" charset="0"/>
              </a:rPr>
              <a:t>SHUBHAM PATHAK SIR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300" dirty="0">
                <a:solidFill>
                  <a:srgbClr val="25F4EE"/>
                </a:solidFill>
                <a:latin typeface="Courier New" pitchFamily="34" charset="0"/>
                <a:ea typeface="Courier New" pitchFamily="34" charset="-122"/>
                <a:cs typeface="Courier New" pitchFamily="34" charset="-120"/>
              </a:rPr>
              <a:t>// 01  OVERVIEW</a:t>
            </a:r>
            <a:endParaRPr lang="en-US" sz="1200" dirty="0"/>
          </a:p>
        </p:txBody>
      </p:sp>
      <p:sp>
        <p:nvSpPr>
          <p:cNvPr id="3" name="Text 1"/>
          <p:cNvSpPr>
            <a:spLocks noGrp="1"/>
          </p:cNvSpPr>
          <p:nvPr>
            <p:ph type="title" idx="101" hasCustomPrompt="1"/>
          </p:nvPr>
        </p:nvSpPr>
        <p:spPr>
          <a:xfrm>
            <a:off x="548640" y="530352"/>
            <a:ext cx="11064240" cy="777240"/>
          </a:xfrm>
          <a:prstGeom prst="rect">
            <a:avLst/>
          </a:prstGeom>
          <a:noFill/>
          <a:ln/>
        </p:spPr>
        <p:txBody>
          <a:bodyPr wrap="square" lIns="0" tIns="0" rIns="0" bIns="0" rtlCol="0" anchor="ctr"/>
          <a:lstStyle/>
          <a:p>
            <a:pPr marL="0" indent="0" algn="l">
              <a:buNone/>
            </a:pPr>
            <a:r>
              <a:rPr lang="en-US" sz="3400" b="1" dirty="0">
                <a:solidFill>
                  <a:schemeClr val="bg1"/>
                </a:solidFill>
              </a:rPr>
              <a:t>The dataset at a glance</a:t>
            </a:r>
            <a:endParaRPr lang="en-US" sz="3400" dirty="0"/>
          </a:p>
        </p:txBody>
      </p:sp>
      <p:sp>
        <p:nvSpPr>
          <p:cNvPr id="4" name="Panel glow"/>
          <p:cNvSpPr/>
          <p:nvPr/>
        </p:nvSpPr>
        <p:spPr>
          <a:xfrm>
            <a:off x="548640" y="1463040"/>
            <a:ext cx="2560320" cy="3108960"/>
          </a:xfrm>
          <a:custGeom>
            <a:avLst/>
            <a:gdLst/>
            <a:ahLst/>
            <a:cxnLst/>
            <a:rect l="l" t="t" r="r" b="b"/>
            <a:pathLst>
              <a:path w="2560320" h="3108960">
                <a:moveTo>
                  <a:pt x="0" y="0"/>
                </a:moveTo>
                <a:lnTo>
                  <a:pt x="2340864" y="0"/>
                </a:lnTo>
                <a:lnTo>
                  <a:pt x="2560320" y="219456"/>
                </a:lnTo>
                <a:lnTo>
                  <a:pt x="2560320" y="3108960"/>
                </a:lnTo>
                <a:lnTo>
                  <a:pt x="219456" y="3108960"/>
                </a:lnTo>
                <a:lnTo>
                  <a:pt x="0" y="2889504"/>
                </a:lnTo>
                <a:close/>
              </a:path>
            </a:pathLst>
          </a:custGeom>
          <a:ln w="63500">
            <a:solidFill>
              <a:srgbClr val="25F4EE">
                <a:alpha val="14000"/>
              </a:srgbClr>
            </a:solidFill>
            <a:prstDash val="solid"/>
          </a:ln>
        </p:spPr>
      </p:sp>
      <p:sp>
        <p:nvSpPr>
          <p:cNvPr id="5" name="HUD panel"/>
          <p:cNvSpPr/>
          <p:nvPr/>
        </p:nvSpPr>
        <p:spPr>
          <a:xfrm>
            <a:off x="548640" y="1463040"/>
            <a:ext cx="2560320" cy="3108960"/>
          </a:xfrm>
          <a:custGeom>
            <a:avLst/>
            <a:gdLst/>
            <a:ahLst/>
            <a:cxnLst/>
            <a:rect l="l" t="t" r="r" b="b"/>
            <a:pathLst>
              <a:path w="2560320" h="3108960">
                <a:moveTo>
                  <a:pt x="0" y="0"/>
                </a:moveTo>
                <a:lnTo>
                  <a:pt x="2340864" y="0"/>
                </a:lnTo>
                <a:lnTo>
                  <a:pt x="2560320" y="219456"/>
                </a:lnTo>
                <a:lnTo>
                  <a:pt x="2560320" y="3108960"/>
                </a:lnTo>
                <a:lnTo>
                  <a:pt x="219456" y="3108960"/>
                </a:lnTo>
                <a:lnTo>
                  <a:pt x="0" y="2889504"/>
                </a:lnTo>
                <a:close/>
              </a:path>
            </a:pathLst>
          </a:custGeom>
          <a:solidFill>
            <a:schemeClr val="tx2">
              <a:alpha val="88000"/>
            </a:schemeClr>
          </a:solidFill>
          <a:ln w="15875">
            <a:solidFill>
              <a:srgbClr val="25F4EE">
                <a:alpha val="90000"/>
              </a:srgbClr>
            </a:solidFill>
            <a:prstDash val="solid"/>
          </a:ln>
        </p:spPr>
      </p:sp>
      <p:sp>
        <p:nvSpPr>
          <p:cNvPr id="6" name="Icon chip"/>
          <p:cNvSpPr/>
          <p:nvPr/>
        </p:nvSpPr>
        <p:spPr>
          <a:xfrm>
            <a:off x="822960" y="1737360"/>
            <a:ext cx="777240" cy="777240"/>
          </a:xfrm>
          <a:custGeom>
            <a:avLst/>
            <a:gdLst/>
            <a:ahLst/>
            <a:cxnLst/>
            <a:rect l="l" t="t" r="r" b="b"/>
            <a:pathLst>
              <a:path w="777240" h="777240">
                <a:moveTo>
                  <a:pt x="202082" y="0"/>
                </a:moveTo>
                <a:lnTo>
                  <a:pt x="575158" y="0"/>
                </a:lnTo>
                <a:lnTo>
                  <a:pt x="777240" y="202082"/>
                </a:lnTo>
                <a:lnTo>
                  <a:pt x="777240" y="575158"/>
                </a:lnTo>
                <a:lnTo>
                  <a:pt x="575158" y="777240"/>
                </a:lnTo>
                <a:lnTo>
                  <a:pt x="202082" y="777240"/>
                </a:lnTo>
                <a:lnTo>
                  <a:pt x="0" y="575158"/>
                </a:lnTo>
                <a:lnTo>
                  <a:pt x="0" y="202082"/>
                </a:lnTo>
                <a:close/>
              </a:path>
            </a:pathLst>
          </a:custGeom>
          <a:solidFill>
            <a:schemeClr val="tx1">
              <a:alpha val="75000"/>
            </a:schemeClr>
          </a:solidFill>
          <a:ln w="19050">
            <a:solidFill>
              <a:srgbClr val="25F4EE"/>
            </a:solidFill>
            <a:prstDash val="solid"/>
          </a:ln>
        </p:spPr>
      </p:sp>
      <p:pic>
        <p:nvPicPr>
          <p:cNvPr id="7" name="Icon" descr="icon"/>
          <p:cNvPicPr>
            <a:picLocks noChangeAspect="1"/>
          </p:cNvPicPr>
          <p:nvPr/>
        </p:nvPicPr>
        <p:blipFill>
          <a:blip r:embed="rId3"/>
          <a:stretch>
            <a:fillRect/>
          </a:stretch>
        </p:blipFill>
        <p:spPr>
          <a:xfrm>
            <a:off x="862211" y="1776611"/>
            <a:ext cx="698739" cy="698739"/>
          </a:xfrm>
          <a:prstGeom prst="rect">
            <a:avLst/>
          </a:prstGeom>
        </p:spPr>
      </p:pic>
      <p:sp>
        <p:nvSpPr>
          <p:cNvPr id="8" name="Text 5"/>
          <p:cNvSpPr txBox="1"/>
          <p:nvPr/>
        </p:nvSpPr>
        <p:spPr>
          <a:xfrm>
            <a:off x="822960" y="2651760"/>
            <a:ext cx="2103120" cy="822960"/>
          </a:xfrm>
          <a:prstGeom prst="rect">
            <a:avLst/>
          </a:prstGeom>
          <a:noFill/>
          <a:ln/>
        </p:spPr>
        <p:txBody>
          <a:bodyPr wrap="square" lIns="0" tIns="0" rIns="0" bIns="0" rtlCol="0" anchor="ctr"/>
          <a:lstStyle/>
          <a:p>
            <a:pPr marL="0" indent="0">
              <a:buNone/>
            </a:pPr>
            <a:r>
              <a:rPr lang="en-US" sz="4400" b="1" dirty="0">
                <a:solidFill>
                  <a:srgbClr val="25F4EE"/>
                </a:solidFill>
                <a:latin typeface="Courier New" pitchFamily="34" charset="0"/>
                <a:ea typeface="Courier New" pitchFamily="34" charset="-122"/>
                <a:cs typeface="Courier New" pitchFamily="34" charset="-120"/>
              </a:rPr>
              <a:t>300</a:t>
            </a:r>
            <a:endParaRPr lang="en-US" sz="4400" dirty="0"/>
          </a:p>
        </p:txBody>
      </p:sp>
      <p:sp>
        <p:nvSpPr>
          <p:cNvPr id="9" name="Text 6"/>
          <p:cNvSpPr txBox="1"/>
          <p:nvPr/>
        </p:nvSpPr>
        <p:spPr>
          <a:xfrm>
            <a:off x="822960" y="3520440"/>
            <a:ext cx="2103120" cy="50292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TOTAL USERS IN DATASET</a:t>
            </a:r>
            <a:endParaRPr lang="en-US" sz="1200" dirty="0"/>
          </a:p>
        </p:txBody>
      </p:sp>
      <p:sp>
        <p:nvSpPr>
          <p:cNvPr id="10" name="Panel glow"/>
          <p:cNvSpPr/>
          <p:nvPr/>
        </p:nvSpPr>
        <p:spPr>
          <a:xfrm>
            <a:off x="3383280" y="1463040"/>
            <a:ext cx="2560320" cy="3108960"/>
          </a:xfrm>
          <a:custGeom>
            <a:avLst/>
            <a:gdLst/>
            <a:ahLst/>
            <a:cxnLst/>
            <a:rect l="l" t="t" r="r" b="b"/>
            <a:pathLst>
              <a:path w="2560320" h="3108960">
                <a:moveTo>
                  <a:pt x="0" y="0"/>
                </a:moveTo>
                <a:lnTo>
                  <a:pt x="2340864" y="0"/>
                </a:lnTo>
                <a:lnTo>
                  <a:pt x="2560320" y="219456"/>
                </a:lnTo>
                <a:lnTo>
                  <a:pt x="2560320" y="3108960"/>
                </a:lnTo>
                <a:lnTo>
                  <a:pt x="219456" y="3108960"/>
                </a:lnTo>
                <a:lnTo>
                  <a:pt x="0" y="2889504"/>
                </a:lnTo>
                <a:close/>
              </a:path>
            </a:pathLst>
          </a:custGeom>
          <a:ln w="63500">
            <a:solidFill>
              <a:srgbClr val="25F4EE">
                <a:alpha val="14000"/>
              </a:srgbClr>
            </a:solidFill>
            <a:prstDash val="solid"/>
          </a:ln>
        </p:spPr>
      </p:sp>
      <p:sp>
        <p:nvSpPr>
          <p:cNvPr id="11" name="HUD panel"/>
          <p:cNvSpPr/>
          <p:nvPr/>
        </p:nvSpPr>
        <p:spPr>
          <a:xfrm>
            <a:off x="3383280" y="1463040"/>
            <a:ext cx="2560320" cy="3108960"/>
          </a:xfrm>
          <a:custGeom>
            <a:avLst/>
            <a:gdLst/>
            <a:ahLst/>
            <a:cxnLst/>
            <a:rect l="l" t="t" r="r" b="b"/>
            <a:pathLst>
              <a:path w="2560320" h="3108960">
                <a:moveTo>
                  <a:pt x="0" y="0"/>
                </a:moveTo>
                <a:lnTo>
                  <a:pt x="2340864" y="0"/>
                </a:lnTo>
                <a:lnTo>
                  <a:pt x="2560320" y="219456"/>
                </a:lnTo>
                <a:lnTo>
                  <a:pt x="2560320" y="3108960"/>
                </a:lnTo>
                <a:lnTo>
                  <a:pt x="219456" y="3108960"/>
                </a:lnTo>
                <a:lnTo>
                  <a:pt x="0" y="2889504"/>
                </a:lnTo>
                <a:close/>
              </a:path>
            </a:pathLst>
          </a:custGeom>
          <a:solidFill>
            <a:schemeClr val="tx2">
              <a:alpha val="88000"/>
            </a:schemeClr>
          </a:solidFill>
          <a:ln w="15875">
            <a:solidFill>
              <a:srgbClr val="25F4EE">
                <a:alpha val="90000"/>
              </a:srgbClr>
            </a:solidFill>
            <a:prstDash val="solid"/>
          </a:ln>
        </p:spPr>
      </p:sp>
      <p:sp>
        <p:nvSpPr>
          <p:cNvPr id="12" name="Icon chip"/>
          <p:cNvSpPr/>
          <p:nvPr/>
        </p:nvSpPr>
        <p:spPr>
          <a:xfrm>
            <a:off x="3657600" y="1737360"/>
            <a:ext cx="777240" cy="777240"/>
          </a:xfrm>
          <a:custGeom>
            <a:avLst/>
            <a:gdLst/>
            <a:ahLst/>
            <a:cxnLst/>
            <a:rect l="l" t="t" r="r" b="b"/>
            <a:pathLst>
              <a:path w="777240" h="777240">
                <a:moveTo>
                  <a:pt x="202082" y="0"/>
                </a:moveTo>
                <a:lnTo>
                  <a:pt x="575158" y="0"/>
                </a:lnTo>
                <a:lnTo>
                  <a:pt x="777240" y="202082"/>
                </a:lnTo>
                <a:lnTo>
                  <a:pt x="777240" y="575158"/>
                </a:lnTo>
                <a:lnTo>
                  <a:pt x="575158" y="777240"/>
                </a:lnTo>
                <a:lnTo>
                  <a:pt x="202082" y="777240"/>
                </a:lnTo>
                <a:lnTo>
                  <a:pt x="0" y="575158"/>
                </a:lnTo>
                <a:lnTo>
                  <a:pt x="0" y="202082"/>
                </a:lnTo>
                <a:close/>
              </a:path>
            </a:pathLst>
          </a:custGeom>
          <a:solidFill>
            <a:schemeClr val="tx1">
              <a:alpha val="75000"/>
            </a:schemeClr>
          </a:solidFill>
          <a:ln w="19050">
            <a:solidFill>
              <a:srgbClr val="25F4EE"/>
            </a:solidFill>
            <a:prstDash val="solid"/>
          </a:ln>
        </p:spPr>
      </p:sp>
      <p:pic>
        <p:nvPicPr>
          <p:cNvPr id="13" name="Icon" descr="icon"/>
          <p:cNvPicPr>
            <a:picLocks noChangeAspect="1"/>
          </p:cNvPicPr>
          <p:nvPr/>
        </p:nvPicPr>
        <p:blipFill>
          <a:blip r:embed="rId4"/>
          <a:stretch>
            <a:fillRect/>
          </a:stretch>
        </p:blipFill>
        <p:spPr>
          <a:xfrm>
            <a:off x="3696851" y="1776611"/>
            <a:ext cx="698739" cy="698739"/>
          </a:xfrm>
          <a:prstGeom prst="rect">
            <a:avLst/>
          </a:prstGeom>
        </p:spPr>
      </p:pic>
      <p:sp>
        <p:nvSpPr>
          <p:cNvPr id="14" name="Text 10"/>
          <p:cNvSpPr txBox="1"/>
          <p:nvPr/>
        </p:nvSpPr>
        <p:spPr>
          <a:xfrm>
            <a:off x="3657600" y="2651760"/>
            <a:ext cx="2103120" cy="822960"/>
          </a:xfrm>
          <a:prstGeom prst="rect">
            <a:avLst/>
          </a:prstGeom>
          <a:noFill/>
          <a:ln/>
        </p:spPr>
        <p:txBody>
          <a:bodyPr wrap="square" lIns="0" tIns="0" rIns="0" bIns="0" rtlCol="0" anchor="ctr"/>
          <a:lstStyle/>
          <a:p>
            <a:pPr marL="0" indent="0">
              <a:buNone/>
            </a:pPr>
            <a:r>
              <a:rPr lang="en-US" sz="4400" b="1" dirty="0">
                <a:solidFill>
                  <a:srgbClr val="25F4EE"/>
                </a:solidFill>
                <a:latin typeface="Courier New" pitchFamily="34" charset="0"/>
                <a:ea typeface="Courier New" pitchFamily="34" charset="-122"/>
                <a:cs typeface="Courier New" pitchFamily="34" charset="-120"/>
              </a:rPr>
              <a:t>3.00</a:t>
            </a:r>
            <a:endParaRPr lang="en-US" sz="4400" dirty="0"/>
          </a:p>
        </p:txBody>
      </p:sp>
      <p:sp>
        <p:nvSpPr>
          <p:cNvPr id="15" name="Text 11"/>
          <p:cNvSpPr txBox="1"/>
          <p:nvPr/>
        </p:nvSpPr>
        <p:spPr>
          <a:xfrm>
            <a:off x="3657600" y="3520440"/>
            <a:ext cx="2103120" cy="50292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AVG. AI USAGE (HOURS PER DAY)</a:t>
            </a:r>
            <a:endParaRPr lang="en-US" sz="1200" dirty="0"/>
          </a:p>
        </p:txBody>
      </p:sp>
      <p:sp>
        <p:nvSpPr>
          <p:cNvPr id="16" name="Panel glow"/>
          <p:cNvSpPr/>
          <p:nvPr/>
        </p:nvSpPr>
        <p:spPr>
          <a:xfrm>
            <a:off x="6217920" y="1463040"/>
            <a:ext cx="2560320" cy="3108960"/>
          </a:xfrm>
          <a:custGeom>
            <a:avLst/>
            <a:gdLst/>
            <a:ahLst/>
            <a:cxnLst/>
            <a:rect l="l" t="t" r="r" b="b"/>
            <a:pathLst>
              <a:path w="2560320" h="3108960">
                <a:moveTo>
                  <a:pt x="0" y="0"/>
                </a:moveTo>
                <a:lnTo>
                  <a:pt x="2340864" y="0"/>
                </a:lnTo>
                <a:lnTo>
                  <a:pt x="2560320" y="219456"/>
                </a:lnTo>
                <a:lnTo>
                  <a:pt x="2560320" y="3108960"/>
                </a:lnTo>
                <a:lnTo>
                  <a:pt x="219456" y="3108960"/>
                </a:lnTo>
                <a:lnTo>
                  <a:pt x="0" y="2889504"/>
                </a:lnTo>
                <a:close/>
              </a:path>
            </a:pathLst>
          </a:custGeom>
          <a:ln w="63500">
            <a:solidFill>
              <a:srgbClr val="2F7BFF">
                <a:alpha val="14000"/>
              </a:srgbClr>
            </a:solidFill>
            <a:prstDash val="solid"/>
          </a:ln>
        </p:spPr>
      </p:sp>
      <p:sp>
        <p:nvSpPr>
          <p:cNvPr id="17" name="HUD panel"/>
          <p:cNvSpPr/>
          <p:nvPr/>
        </p:nvSpPr>
        <p:spPr>
          <a:xfrm>
            <a:off x="6217920" y="1463040"/>
            <a:ext cx="2560320" cy="3108960"/>
          </a:xfrm>
          <a:custGeom>
            <a:avLst/>
            <a:gdLst/>
            <a:ahLst/>
            <a:cxnLst/>
            <a:rect l="l" t="t" r="r" b="b"/>
            <a:pathLst>
              <a:path w="2560320" h="3108960">
                <a:moveTo>
                  <a:pt x="0" y="0"/>
                </a:moveTo>
                <a:lnTo>
                  <a:pt x="2340864" y="0"/>
                </a:lnTo>
                <a:lnTo>
                  <a:pt x="2560320" y="219456"/>
                </a:lnTo>
                <a:lnTo>
                  <a:pt x="2560320" y="3108960"/>
                </a:lnTo>
                <a:lnTo>
                  <a:pt x="219456" y="3108960"/>
                </a:lnTo>
                <a:lnTo>
                  <a:pt x="0" y="2889504"/>
                </a:lnTo>
                <a:close/>
              </a:path>
            </a:pathLst>
          </a:custGeom>
          <a:solidFill>
            <a:schemeClr val="tx2">
              <a:alpha val="88000"/>
            </a:schemeClr>
          </a:solidFill>
          <a:ln w="15875">
            <a:solidFill>
              <a:srgbClr val="2F7BFF">
                <a:alpha val="90000"/>
              </a:srgbClr>
            </a:solidFill>
            <a:prstDash val="solid"/>
          </a:ln>
        </p:spPr>
      </p:sp>
      <p:sp>
        <p:nvSpPr>
          <p:cNvPr id="18" name="Icon chip"/>
          <p:cNvSpPr/>
          <p:nvPr/>
        </p:nvSpPr>
        <p:spPr>
          <a:xfrm>
            <a:off x="6492240" y="1737360"/>
            <a:ext cx="777240" cy="777240"/>
          </a:xfrm>
          <a:custGeom>
            <a:avLst/>
            <a:gdLst/>
            <a:ahLst/>
            <a:cxnLst/>
            <a:rect l="l" t="t" r="r" b="b"/>
            <a:pathLst>
              <a:path w="777240" h="777240">
                <a:moveTo>
                  <a:pt x="202082" y="0"/>
                </a:moveTo>
                <a:lnTo>
                  <a:pt x="575158" y="0"/>
                </a:lnTo>
                <a:lnTo>
                  <a:pt x="777240" y="202082"/>
                </a:lnTo>
                <a:lnTo>
                  <a:pt x="777240" y="575158"/>
                </a:lnTo>
                <a:lnTo>
                  <a:pt x="575158" y="777240"/>
                </a:lnTo>
                <a:lnTo>
                  <a:pt x="202082" y="777240"/>
                </a:lnTo>
                <a:lnTo>
                  <a:pt x="0" y="575158"/>
                </a:lnTo>
                <a:lnTo>
                  <a:pt x="0" y="202082"/>
                </a:lnTo>
                <a:close/>
              </a:path>
            </a:pathLst>
          </a:custGeom>
          <a:solidFill>
            <a:schemeClr val="tx1">
              <a:alpha val="75000"/>
            </a:schemeClr>
          </a:solidFill>
          <a:ln w="19050">
            <a:solidFill>
              <a:srgbClr val="2F7BFF"/>
            </a:solidFill>
            <a:prstDash val="solid"/>
          </a:ln>
        </p:spPr>
      </p:sp>
      <p:pic>
        <p:nvPicPr>
          <p:cNvPr id="19" name="Icon" descr="icon"/>
          <p:cNvPicPr>
            <a:picLocks noChangeAspect="1"/>
          </p:cNvPicPr>
          <p:nvPr/>
        </p:nvPicPr>
        <p:blipFill>
          <a:blip r:embed="rId5"/>
          <a:stretch>
            <a:fillRect/>
          </a:stretch>
        </p:blipFill>
        <p:spPr>
          <a:xfrm>
            <a:off x="6531491" y="1776611"/>
            <a:ext cx="698739" cy="698739"/>
          </a:xfrm>
          <a:prstGeom prst="rect">
            <a:avLst/>
          </a:prstGeom>
        </p:spPr>
      </p:pic>
      <p:sp>
        <p:nvSpPr>
          <p:cNvPr id="20" name="Text 15"/>
          <p:cNvSpPr txBox="1"/>
          <p:nvPr/>
        </p:nvSpPr>
        <p:spPr>
          <a:xfrm>
            <a:off x="6492240" y="2651760"/>
            <a:ext cx="2103120" cy="822960"/>
          </a:xfrm>
          <a:prstGeom prst="rect">
            <a:avLst/>
          </a:prstGeom>
          <a:noFill/>
          <a:ln/>
        </p:spPr>
        <p:txBody>
          <a:bodyPr wrap="square" lIns="0" tIns="0" rIns="0" bIns="0" rtlCol="0" anchor="ctr"/>
          <a:lstStyle/>
          <a:p>
            <a:pPr marL="0" indent="0">
              <a:buNone/>
            </a:pPr>
            <a:r>
              <a:rPr lang="en-US" sz="4400" b="1" dirty="0">
                <a:solidFill>
                  <a:srgbClr val="2F7BFF"/>
                </a:solidFill>
                <a:latin typeface="Courier New" pitchFamily="34" charset="0"/>
                <a:ea typeface="Courier New" pitchFamily="34" charset="-122"/>
                <a:cs typeface="Courier New" pitchFamily="34" charset="-120"/>
              </a:rPr>
              <a:t>5.97</a:t>
            </a:r>
            <a:endParaRPr lang="en-US" sz="4400" dirty="0"/>
          </a:p>
        </p:txBody>
      </p:sp>
      <p:sp>
        <p:nvSpPr>
          <p:cNvPr id="21" name="Text 16"/>
          <p:cNvSpPr txBox="1"/>
          <p:nvPr/>
        </p:nvSpPr>
        <p:spPr>
          <a:xfrm>
            <a:off x="6492240" y="3520440"/>
            <a:ext cx="2103120" cy="50292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AVG. TIME SAVED (HOURS)</a:t>
            </a:r>
            <a:endParaRPr lang="en-US" sz="1200" dirty="0"/>
          </a:p>
        </p:txBody>
      </p:sp>
      <p:sp>
        <p:nvSpPr>
          <p:cNvPr id="22" name="Panel glow"/>
          <p:cNvSpPr/>
          <p:nvPr/>
        </p:nvSpPr>
        <p:spPr>
          <a:xfrm>
            <a:off x="9052560" y="1463040"/>
            <a:ext cx="2560320" cy="3108960"/>
          </a:xfrm>
          <a:custGeom>
            <a:avLst/>
            <a:gdLst/>
            <a:ahLst/>
            <a:cxnLst/>
            <a:rect l="l" t="t" r="r" b="b"/>
            <a:pathLst>
              <a:path w="2560320" h="3108960">
                <a:moveTo>
                  <a:pt x="0" y="0"/>
                </a:moveTo>
                <a:lnTo>
                  <a:pt x="2340864" y="0"/>
                </a:lnTo>
                <a:lnTo>
                  <a:pt x="2560320" y="219456"/>
                </a:lnTo>
                <a:lnTo>
                  <a:pt x="2560320" y="3108960"/>
                </a:lnTo>
                <a:lnTo>
                  <a:pt x="219456" y="3108960"/>
                </a:lnTo>
                <a:lnTo>
                  <a:pt x="0" y="2889504"/>
                </a:lnTo>
                <a:close/>
              </a:path>
            </a:pathLst>
          </a:custGeom>
          <a:ln w="63500">
            <a:solidFill>
              <a:srgbClr val="FF2E93">
                <a:alpha val="14000"/>
              </a:srgbClr>
            </a:solidFill>
            <a:prstDash val="solid"/>
          </a:ln>
        </p:spPr>
      </p:sp>
      <p:sp>
        <p:nvSpPr>
          <p:cNvPr id="23" name="HUD panel"/>
          <p:cNvSpPr/>
          <p:nvPr/>
        </p:nvSpPr>
        <p:spPr>
          <a:xfrm>
            <a:off x="9052560" y="1463040"/>
            <a:ext cx="2560320" cy="3108960"/>
          </a:xfrm>
          <a:custGeom>
            <a:avLst/>
            <a:gdLst/>
            <a:ahLst/>
            <a:cxnLst/>
            <a:rect l="l" t="t" r="r" b="b"/>
            <a:pathLst>
              <a:path w="2560320" h="3108960">
                <a:moveTo>
                  <a:pt x="0" y="0"/>
                </a:moveTo>
                <a:lnTo>
                  <a:pt x="2340864" y="0"/>
                </a:lnTo>
                <a:lnTo>
                  <a:pt x="2560320" y="219456"/>
                </a:lnTo>
                <a:lnTo>
                  <a:pt x="2560320" y="3108960"/>
                </a:lnTo>
                <a:lnTo>
                  <a:pt x="219456" y="3108960"/>
                </a:lnTo>
                <a:lnTo>
                  <a:pt x="0" y="2889504"/>
                </a:lnTo>
                <a:close/>
              </a:path>
            </a:pathLst>
          </a:custGeom>
          <a:solidFill>
            <a:schemeClr val="tx2">
              <a:alpha val="88000"/>
            </a:schemeClr>
          </a:solidFill>
          <a:ln w="15875">
            <a:solidFill>
              <a:srgbClr val="FF2E93">
                <a:alpha val="90000"/>
              </a:srgbClr>
            </a:solidFill>
            <a:prstDash val="solid"/>
          </a:ln>
        </p:spPr>
      </p:sp>
      <p:sp>
        <p:nvSpPr>
          <p:cNvPr id="24" name="Icon chip"/>
          <p:cNvSpPr/>
          <p:nvPr/>
        </p:nvSpPr>
        <p:spPr>
          <a:xfrm>
            <a:off x="9326880" y="1737360"/>
            <a:ext cx="777240" cy="777240"/>
          </a:xfrm>
          <a:custGeom>
            <a:avLst/>
            <a:gdLst/>
            <a:ahLst/>
            <a:cxnLst/>
            <a:rect l="l" t="t" r="r" b="b"/>
            <a:pathLst>
              <a:path w="777240" h="777240">
                <a:moveTo>
                  <a:pt x="202082" y="0"/>
                </a:moveTo>
                <a:lnTo>
                  <a:pt x="575158" y="0"/>
                </a:lnTo>
                <a:lnTo>
                  <a:pt x="777240" y="202082"/>
                </a:lnTo>
                <a:lnTo>
                  <a:pt x="777240" y="575158"/>
                </a:lnTo>
                <a:lnTo>
                  <a:pt x="575158" y="777240"/>
                </a:lnTo>
                <a:lnTo>
                  <a:pt x="202082" y="777240"/>
                </a:lnTo>
                <a:lnTo>
                  <a:pt x="0" y="575158"/>
                </a:lnTo>
                <a:lnTo>
                  <a:pt x="0" y="202082"/>
                </a:lnTo>
                <a:close/>
              </a:path>
            </a:pathLst>
          </a:custGeom>
          <a:solidFill>
            <a:schemeClr val="tx1">
              <a:alpha val="75000"/>
            </a:schemeClr>
          </a:solidFill>
          <a:ln w="19050">
            <a:solidFill>
              <a:srgbClr val="FF2E93"/>
            </a:solidFill>
            <a:prstDash val="solid"/>
          </a:ln>
        </p:spPr>
      </p:sp>
      <p:pic>
        <p:nvPicPr>
          <p:cNvPr id="25" name="Icon" descr="icon"/>
          <p:cNvPicPr>
            <a:picLocks noChangeAspect="1"/>
          </p:cNvPicPr>
          <p:nvPr/>
        </p:nvPicPr>
        <p:blipFill>
          <a:blip r:embed="rId6"/>
          <a:stretch>
            <a:fillRect/>
          </a:stretch>
        </p:blipFill>
        <p:spPr>
          <a:xfrm>
            <a:off x="9366131" y="1776611"/>
            <a:ext cx="698739" cy="698739"/>
          </a:xfrm>
          <a:prstGeom prst="rect">
            <a:avLst/>
          </a:prstGeom>
        </p:spPr>
      </p:pic>
      <p:sp>
        <p:nvSpPr>
          <p:cNvPr id="26" name="Text 20"/>
          <p:cNvSpPr txBox="1"/>
          <p:nvPr/>
        </p:nvSpPr>
        <p:spPr>
          <a:xfrm>
            <a:off x="9326880" y="2651760"/>
            <a:ext cx="2103120" cy="822960"/>
          </a:xfrm>
          <a:prstGeom prst="rect">
            <a:avLst/>
          </a:prstGeom>
          <a:noFill/>
          <a:ln/>
        </p:spPr>
        <p:txBody>
          <a:bodyPr wrap="square" lIns="0" tIns="0" rIns="0" bIns="0" rtlCol="0" anchor="ctr"/>
          <a:lstStyle/>
          <a:p>
            <a:pPr marL="0" indent="0">
              <a:buNone/>
            </a:pPr>
            <a:r>
              <a:rPr lang="en-US" sz="4400" b="1" dirty="0">
                <a:solidFill>
                  <a:srgbClr val="FF2E93"/>
                </a:solidFill>
                <a:latin typeface="Courier New" pitchFamily="34" charset="0"/>
                <a:ea typeface="Courier New" pitchFamily="34" charset="-122"/>
                <a:cs typeface="Courier New" pitchFamily="34" charset="-120"/>
              </a:rPr>
              <a:t>5.44</a:t>
            </a:r>
            <a:endParaRPr lang="en-US" sz="4400" dirty="0"/>
          </a:p>
        </p:txBody>
      </p:sp>
      <p:sp>
        <p:nvSpPr>
          <p:cNvPr id="27" name="Text 21"/>
          <p:cNvSpPr txBox="1"/>
          <p:nvPr/>
        </p:nvSpPr>
        <p:spPr>
          <a:xfrm>
            <a:off x="9326880" y="3520440"/>
            <a:ext cx="2103120" cy="502920"/>
          </a:xfrm>
          <a:prstGeom prst="rect">
            <a:avLst/>
          </a:prstGeom>
          <a:noFill/>
          <a:ln/>
        </p:spPr>
        <p:txBody>
          <a:bodyPr wrap="square" lIns="0" tIns="0" rIns="0" bIns="0" rtlCol="0" anchor="t"/>
          <a:lstStyle/>
          <a:p>
            <a:pPr marL="0" indent="0">
              <a:buNone/>
            </a:pPr>
            <a:r>
              <a:rPr lang="en-US" sz="1200" dirty="0">
                <a:solidFill>
                  <a:schemeClr val="bg2"/>
                </a:solidFill>
                <a:latin typeface="Courier New" pitchFamily="34" charset="0"/>
                <a:ea typeface="Courier New" pitchFamily="34" charset="-122"/>
                <a:cs typeface="Courier New" pitchFamily="34" charset="-120"/>
              </a:rPr>
              <a:t>AVG. PRODUCTIVITY SCORE (OUT OF 10)</a:t>
            </a:r>
            <a:endParaRPr lang="en-US" sz="1200" dirty="0"/>
          </a:p>
        </p:txBody>
      </p:sp>
      <p:sp>
        <p:nvSpPr>
          <p:cNvPr id="28" name="Score segment"/>
          <p:cNvSpPr/>
          <p:nvPr/>
        </p:nvSpPr>
        <p:spPr>
          <a:xfrm>
            <a:off x="9052560" y="4224528"/>
            <a:ext cx="173736" cy="128016"/>
          </a:xfrm>
          <a:prstGeom prst="rect">
            <a:avLst/>
          </a:prstGeom>
          <a:solidFill>
            <a:srgbClr val="FF2E93"/>
          </a:solidFill>
          <a:ln/>
        </p:spPr>
      </p:sp>
      <p:sp>
        <p:nvSpPr>
          <p:cNvPr id="29" name="Score segment"/>
          <p:cNvSpPr/>
          <p:nvPr/>
        </p:nvSpPr>
        <p:spPr>
          <a:xfrm>
            <a:off x="9249156" y="4224528"/>
            <a:ext cx="173736" cy="128016"/>
          </a:xfrm>
          <a:prstGeom prst="rect">
            <a:avLst/>
          </a:prstGeom>
          <a:solidFill>
            <a:srgbClr val="FF2E93"/>
          </a:solidFill>
          <a:ln/>
        </p:spPr>
      </p:sp>
      <p:sp>
        <p:nvSpPr>
          <p:cNvPr id="30" name="Score segment"/>
          <p:cNvSpPr/>
          <p:nvPr/>
        </p:nvSpPr>
        <p:spPr>
          <a:xfrm>
            <a:off x="9445752" y="4224528"/>
            <a:ext cx="173736" cy="128016"/>
          </a:xfrm>
          <a:prstGeom prst="rect">
            <a:avLst/>
          </a:prstGeom>
          <a:solidFill>
            <a:srgbClr val="FF2E93"/>
          </a:solidFill>
          <a:ln/>
        </p:spPr>
      </p:sp>
      <p:sp>
        <p:nvSpPr>
          <p:cNvPr id="31" name="Score segment"/>
          <p:cNvSpPr/>
          <p:nvPr/>
        </p:nvSpPr>
        <p:spPr>
          <a:xfrm>
            <a:off x="9642348" y="4224528"/>
            <a:ext cx="173736" cy="128016"/>
          </a:xfrm>
          <a:prstGeom prst="rect">
            <a:avLst/>
          </a:prstGeom>
          <a:solidFill>
            <a:srgbClr val="FF2E93"/>
          </a:solidFill>
          <a:ln/>
        </p:spPr>
      </p:sp>
      <p:sp>
        <p:nvSpPr>
          <p:cNvPr id="32" name="Score segment"/>
          <p:cNvSpPr/>
          <p:nvPr/>
        </p:nvSpPr>
        <p:spPr>
          <a:xfrm>
            <a:off x="9838944" y="4224528"/>
            <a:ext cx="173736" cy="128016"/>
          </a:xfrm>
          <a:prstGeom prst="rect">
            <a:avLst/>
          </a:prstGeom>
          <a:solidFill>
            <a:srgbClr val="FF2E93"/>
          </a:solidFill>
          <a:ln/>
        </p:spPr>
      </p:sp>
      <p:sp>
        <p:nvSpPr>
          <p:cNvPr id="33" name="Score segment"/>
          <p:cNvSpPr/>
          <p:nvPr/>
        </p:nvSpPr>
        <p:spPr>
          <a:xfrm>
            <a:off x="10035540" y="4224528"/>
            <a:ext cx="173736" cy="128016"/>
          </a:xfrm>
          <a:prstGeom prst="rect">
            <a:avLst/>
          </a:prstGeom>
          <a:solidFill>
            <a:srgbClr val="2A2350"/>
          </a:solidFill>
          <a:ln/>
        </p:spPr>
      </p:sp>
      <p:sp>
        <p:nvSpPr>
          <p:cNvPr id="34" name="Score segment fill"/>
          <p:cNvSpPr/>
          <p:nvPr/>
        </p:nvSpPr>
        <p:spPr>
          <a:xfrm>
            <a:off x="10035540" y="4224528"/>
            <a:ext cx="76444" cy="128016"/>
          </a:xfrm>
          <a:prstGeom prst="rect">
            <a:avLst/>
          </a:prstGeom>
          <a:solidFill>
            <a:srgbClr val="FF2E93"/>
          </a:solidFill>
          <a:ln/>
        </p:spPr>
      </p:sp>
      <p:sp>
        <p:nvSpPr>
          <p:cNvPr id="35" name="Score segment"/>
          <p:cNvSpPr/>
          <p:nvPr/>
        </p:nvSpPr>
        <p:spPr>
          <a:xfrm>
            <a:off x="10232136" y="4224528"/>
            <a:ext cx="173736" cy="128016"/>
          </a:xfrm>
          <a:prstGeom prst="rect">
            <a:avLst/>
          </a:prstGeom>
          <a:solidFill>
            <a:srgbClr val="2A2350"/>
          </a:solidFill>
          <a:ln/>
        </p:spPr>
      </p:sp>
      <p:sp>
        <p:nvSpPr>
          <p:cNvPr id="36" name="Score segment"/>
          <p:cNvSpPr/>
          <p:nvPr/>
        </p:nvSpPr>
        <p:spPr>
          <a:xfrm>
            <a:off x="10428732" y="4224528"/>
            <a:ext cx="173736" cy="128016"/>
          </a:xfrm>
          <a:prstGeom prst="rect">
            <a:avLst/>
          </a:prstGeom>
          <a:solidFill>
            <a:srgbClr val="2A2350"/>
          </a:solidFill>
          <a:ln/>
        </p:spPr>
      </p:sp>
      <p:sp>
        <p:nvSpPr>
          <p:cNvPr id="37" name="Score segment"/>
          <p:cNvSpPr/>
          <p:nvPr/>
        </p:nvSpPr>
        <p:spPr>
          <a:xfrm>
            <a:off x="10625328" y="4224528"/>
            <a:ext cx="173736" cy="128016"/>
          </a:xfrm>
          <a:prstGeom prst="rect">
            <a:avLst/>
          </a:prstGeom>
          <a:solidFill>
            <a:srgbClr val="2A2350"/>
          </a:solidFill>
          <a:ln/>
        </p:spPr>
      </p:sp>
      <p:sp>
        <p:nvSpPr>
          <p:cNvPr id="38" name="Score segment"/>
          <p:cNvSpPr/>
          <p:nvPr/>
        </p:nvSpPr>
        <p:spPr>
          <a:xfrm>
            <a:off x="10821924" y="4224528"/>
            <a:ext cx="173736" cy="128016"/>
          </a:xfrm>
          <a:prstGeom prst="rect">
            <a:avLst/>
          </a:prstGeom>
          <a:solidFill>
            <a:srgbClr val="2A2350"/>
          </a:solidFill>
          <a:ln/>
        </p:spPr>
      </p:sp>
      <p:sp>
        <p:nvSpPr>
          <p:cNvPr id="39" name="Panel glow"/>
          <p:cNvSpPr/>
          <p:nvPr/>
        </p:nvSpPr>
        <p:spPr>
          <a:xfrm>
            <a:off x="548640" y="4846320"/>
            <a:ext cx="11064240" cy="914400"/>
          </a:xfrm>
          <a:custGeom>
            <a:avLst/>
            <a:gdLst/>
            <a:ahLst/>
            <a:cxnLst/>
            <a:rect l="l" t="t" r="r" b="b"/>
            <a:pathLst>
              <a:path w="11064240" h="914400">
                <a:moveTo>
                  <a:pt x="0" y="0"/>
                </a:moveTo>
                <a:lnTo>
                  <a:pt x="10844784" y="0"/>
                </a:lnTo>
                <a:lnTo>
                  <a:pt x="11064240" y="219456"/>
                </a:lnTo>
                <a:lnTo>
                  <a:pt x="11064240" y="914400"/>
                </a:lnTo>
                <a:lnTo>
                  <a:pt x="219456" y="914400"/>
                </a:lnTo>
                <a:lnTo>
                  <a:pt x="0" y="694944"/>
                </a:lnTo>
                <a:close/>
              </a:path>
            </a:pathLst>
          </a:custGeom>
          <a:ln w="63500">
            <a:solidFill>
              <a:srgbClr val="9B5CFF">
                <a:alpha val="14000"/>
              </a:srgbClr>
            </a:solidFill>
            <a:prstDash val="solid"/>
          </a:ln>
        </p:spPr>
      </p:sp>
      <p:sp>
        <p:nvSpPr>
          <p:cNvPr id="40" name="HUD panel"/>
          <p:cNvSpPr/>
          <p:nvPr/>
        </p:nvSpPr>
        <p:spPr>
          <a:xfrm>
            <a:off x="548640" y="4846320"/>
            <a:ext cx="11064240" cy="914400"/>
          </a:xfrm>
          <a:custGeom>
            <a:avLst/>
            <a:gdLst/>
            <a:ahLst/>
            <a:cxnLst/>
            <a:rect l="l" t="t" r="r" b="b"/>
            <a:pathLst>
              <a:path w="11064240" h="914400">
                <a:moveTo>
                  <a:pt x="0" y="0"/>
                </a:moveTo>
                <a:lnTo>
                  <a:pt x="10844784" y="0"/>
                </a:lnTo>
                <a:lnTo>
                  <a:pt x="11064240" y="219456"/>
                </a:lnTo>
                <a:lnTo>
                  <a:pt x="11064240" y="914400"/>
                </a:lnTo>
                <a:lnTo>
                  <a:pt x="219456" y="914400"/>
                </a:lnTo>
                <a:lnTo>
                  <a:pt x="0" y="694944"/>
                </a:lnTo>
                <a:close/>
              </a:path>
            </a:pathLst>
          </a:custGeom>
          <a:solidFill>
            <a:schemeClr val="tx2">
              <a:alpha val="88000"/>
            </a:schemeClr>
          </a:solidFill>
          <a:ln w="15875">
            <a:solidFill>
              <a:srgbClr val="9B5CFF">
                <a:alpha val="90000"/>
              </a:srgbClr>
            </a:solidFill>
            <a:prstDash val="solid"/>
          </a:ln>
        </p:spPr>
      </p:sp>
      <p:sp>
        <p:nvSpPr>
          <p:cNvPr id="41" name="Text 35"/>
          <p:cNvSpPr txBox="1"/>
          <p:nvPr/>
        </p:nvSpPr>
        <p:spPr>
          <a:xfrm>
            <a:off x="868680" y="4846320"/>
            <a:ext cx="10424160" cy="914400"/>
          </a:xfrm>
          <a:prstGeom prst="rect">
            <a:avLst/>
          </a:prstGeom>
          <a:noFill/>
          <a:ln/>
        </p:spPr>
        <p:txBody>
          <a:bodyPr wrap="square" lIns="0" tIns="0" rIns="0" bIns="0" rtlCol="0" anchor="ctr"/>
          <a:lstStyle/>
          <a:p>
            <a:pPr marL="0" indent="0">
              <a:buNone/>
            </a:pPr>
            <a:r>
              <a:rPr lang="en-US" sz="1600" b="1" dirty="0">
                <a:solidFill>
                  <a:srgbClr val="25F4EE"/>
                </a:solidFill>
                <a:latin typeface="Courier New" pitchFamily="34" charset="0"/>
                <a:ea typeface="Courier New" pitchFamily="34" charset="-122"/>
                <a:cs typeface="Courier New" pitchFamily="34" charset="-120"/>
              </a:rPr>
              <a:t>&gt; </a:t>
            </a:r>
            <a:r>
              <a:rPr lang="en-US" sz="1600" dirty="0">
                <a:solidFill>
                  <a:schemeClr val="bg1"/>
                </a:solidFill>
              </a:rPr>
              <a:t>On average, a user spends about 3 hours a day with AI and rates the productivity gain 5.44 out of 10: a solid, but not spectacular, benefit.</a:t>
            </a:r>
            <a:endParaRPr lang="en-US" sz="1600" dirty="0"/>
          </a:p>
        </p:txBody>
      </p:sp>
      <p:sp>
        <p:nvSpPr>
          <p:cNvPr id="42" name="Text 36"/>
          <p:cNvSpPr txBox="1"/>
          <p:nvPr/>
        </p:nvSpPr>
        <p:spPr>
          <a:xfrm>
            <a:off x="548640" y="5897880"/>
            <a:ext cx="11064240" cy="320040"/>
          </a:xfrm>
          <a:prstGeom prst="rect">
            <a:avLst/>
          </a:prstGeom>
          <a:noFill/>
          <a:ln/>
        </p:spPr>
        <p:txBody>
          <a:bodyPr wrap="square" lIns="0" tIns="0" rIns="0" bIns="0" rtlCol="0" anchor="t"/>
          <a:lstStyle/>
          <a:p>
            <a:pPr marL="0" indent="0">
              <a:buNone/>
            </a:pPr>
            <a:r>
              <a:rPr lang="en-US" sz="1100" dirty="0">
                <a:solidFill>
                  <a:schemeClr val="bg2"/>
                </a:solidFill>
              </a:rPr>
              <a:t>Note: the dashboard KPI card shows 288 for Count of User_ID, while the user-type charts add up to 300 users.</a:t>
            </a:r>
            <a:endParaRPr lang="en-US" sz="1100" dirty="0"/>
          </a:p>
        </p:txBody>
      </p:sp>
      <p:sp>
        <p:nvSpPr>
          <p:cNvPr id="43"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5F4EE"/>
                </a:solidFill>
                <a:latin typeface="Courier New"/>
                <a:ea typeface="Courier New"/>
                <a:cs typeface="Courier New"/>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300" dirty="0">
                <a:solidFill>
                  <a:srgbClr val="25F4EE"/>
                </a:solidFill>
                <a:latin typeface="Courier New" pitchFamily="34" charset="0"/>
                <a:ea typeface="Courier New" pitchFamily="34" charset="-122"/>
                <a:cs typeface="Courier New" pitchFamily="34" charset="-120"/>
              </a:rPr>
              <a:t>// 02  AUDIENCE</a:t>
            </a:r>
            <a:endParaRPr lang="en-US" sz="1200" dirty="0"/>
          </a:p>
        </p:txBody>
      </p:sp>
      <p:sp>
        <p:nvSpPr>
          <p:cNvPr id="3" name="Text 1"/>
          <p:cNvSpPr>
            <a:spLocks noGrp="1"/>
          </p:cNvSpPr>
          <p:nvPr>
            <p:ph type="title" idx="101" hasCustomPrompt="1"/>
          </p:nvPr>
        </p:nvSpPr>
        <p:spPr>
          <a:xfrm>
            <a:off x="548640" y="530352"/>
            <a:ext cx="11064240" cy="777240"/>
          </a:xfrm>
          <a:prstGeom prst="rect">
            <a:avLst/>
          </a:prstGeom>
          <a:noFill/>
          <a:ln/>
        </p:spPr>
        <p:txBody>
          <a:bodyPr wrap="square" lIns="0" tIns="0" rIns="0" bIns="0" rtlCol="0" anchor="ctr"/>
          <a:lstStyle/>
          <a:p>
            <a:pPr marL="0" indent="0" algn="l">
              <a:buNone/>
            </a:pPr>
            <a:r>
              <a:rPr lang="en-US" sz="3400" b="1" dirty="0">
                <a:solidFill>
                  <a:schemeClr val="bg1"/>
                </a:solidFill>
              </a:rPr>
              <a:t>Who is using AI? An almost even split</a:t>
            </a:r>
            <a:endParaRPr lang="en-US" sz="3400" dirty="0"/>
          </a:p>
        </p:txBody>
      </p:sp>
      <p:sp>
        <p:nvSpPr>
          <p:cNvPr id="4" name="Panel glow"/>
          <p:cNvSpPr/>
          <p:nvPr/>
        </p:nvSpPr>
        <p:spPr>
          <a:xfrm>
            <a:off x="548640" y="1463040"/>
            <a:ext cx="5303520" cy="4572000"/>
          </a:xfrm>
          <a:custGeom>
            <a:avLst/>
            <a:gdLst/>
            <a:ahLst/>
            <a:cxnLst/>
            <a:rect l="l" t="t" r="r" b="b"/>
            <a:pathLst>
              <a:path w="5303520" h="4572000">
                <a:moveTo>
                  <a:pt x="0" y="0"/>
                </a:moveTo>
                <a:lnTo>
                  <a:pt x="5084064" y="0"/>
                </a:lnTo>
                <a:lnTo>
                  <a:pt x="5303520" y="219456"/>
                </a:lnTo>
                <a:lnTo>
                  <a:pt x="5303520" y="4572000"/>
                </a:lnTo>
                <a:lnTo>
                  <a:pt x="219456" y="4572000"/>
                </a:lnTo>
                <a:lnTo>
                  <a:pt x="0" y="4352544"/>
                </a:lnTo>
                <a:close/>
              </a:path>
            </a:pathLst>
          </a:custGeom>
          <a:ln w="63500">
            <a:solidFill>
              <a:srgbClr val="9B5CFF">
                <a:alpha val="14000"/>
              </a:srgbClr>
            </a:solidFill>
            <a:prstDash val="solid"/>
          </a:ln>
        </p:spPr>
      </p:sp>
      <p:sp>
        <p:nvSpPr>
          <p:cNvPr id="5" name="HUD panel"/>
          <p:cNvSpPr/>
          <p:nvPr/>
        </p:nvSpPr>
        <p:spPr>
          <a:xfrm>
            <a:off x="548640" y="1463040"/>
            <a:ext cx="5303520" cy="4572000"/>
          </a:xfrm>
          <a:custGeom>
            <a:avLst/>
            <a:gdLst/>
            <a:ahLst/>
            <a:cxnLst/>
            <a:rect l="l" t="t" r="r" b="b"/>
            <a:pathLst>
              <a:path w="5303520" h="4572000">
                <a:moveTo>
                  <a:pt x="0" y="0"/>
                </a:moveTo>
                <a:lnTo>
                  <a:pt x="5084064" y="0"/>
                </a:lnTo>
                <a:lnTo>
                  <a:pt x="5303520" y="219456"/>
                </a:lnTo>
                <a:lnTo>
                  <a:pt x="5303520" y="4572000"/>
                </a:lnTo>
                <a:lnTo>
                  <a:pt x="219456" y="4572000"/>
                </a:lnTo>
                <a:lnTo>
                  <a:pt x="0" y="4352544"/>
                </a:lnTo>
                <a:close/>
              </a:path>
            </a:pathLst>
          </a:custGeom>
          <a:solidFill>
            <a:schemeClr val="tx2">
              <a:alpha val="88000"/>
            </a:schemeClr>
          </a:solidFill>
          <a:ln w="15875">
            <a:solidFill>
              <a:srgbClr val="9B5CFF">
                <a:alpha val="90000"/>
              </a:srgbClr>
            </a:solidFill>
            <a:prstDash val="solid"/>
          </a:ln>
        </p:spPr>
      </p:sp>
      <p:graphicFrame>
        <p:nvGraphicFramePr>
          <p:cNvPr id="6" name="Chart 0"/>
          <p:cNvGraphicFramePr/>
          <p:nvPr/>
        </p:nvGraphicFramePr>
        <p:xfrm>
          <a:off x="822960" y="1691640"/>
          <a:ext cx="47548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2286000" y="3246120"/>
            <a:ext cx="1828800" cy="731520"/>
          </a:xfrm>
          <a:prstGeom prst="rect">
            <a:avLst/>
          </a:prstGeom>
          <a:noFill/>
          <a:ln/>
        </p:spPr>
        <p:txBody>
          <a:bodyPr wrap="square" lIns="0" tIns="0" rIns="0" bIns="0" rtlCol="0" anchor="ctr"/>
          <a:lstStyle/>
          <a:p>
            <a:pPr marL="0" indent="0" algn="ctr">
              <a:buNone/>
            </a:pPr>
            <a:r>
              <a:rPr lang="en-US" sz="4000" b="1" dirty="0">
                <a:solidFill>
                  <a:schemeClr val="bg1"/>
                </a:solidFill>
                <a:latin typeface="Courier New" pitchFamily="34" charset="0"/>
                <a:ea typeface="Courier New" pitchFamily="34" charset="-122"/>
                <a:cs typeface="Courier New" pitchFamily="34" charset="-120"/>
              </a:rPr>
              <a:t>300</a:t>
            </a:r>
            <a:endParaRPr lang="en-US" sz="4000" dirty="0"/>
          </a:p>
        </p:txBody>
      </p:sp>
      <p:sp>
        <p:nvSpPr>
          <p:cNvPr id="8" name="Text 5"/>
          <p:cNvSpPr txBox="1"/>
          <p:nvPr/>
        </p:nvSpPr>
        <p:spPr>
          <a:xfrm>
            <a:off x="2286000" y="3977640"/>
            <a:ext cx="1828800" cy="320040"/>
          </a:xfrm>
          <a:prstGeom prst="rect">
            <a:avLst/>
          </a:prstGeom>
          <a:noFill/>
          <a:ln/>
        </p:spPr>
        <p:txBody>
          <a:bodyPr wrap="square" lIns="0" tIns="0" rIns="0" bIns="0" rtlCol="0" anchor="t"/>
          <a:lstStyle/>
          <a:p>
            <a:pPr marL="0" indent="0" algn="ctr">
              <a:buNone/>
            </a:pPr>
            <a:r>
              <a:rPr lang="en-US" sz="1200" dirty="0">
                <a:solidFill>
                  <a:schemeClr val="bg2"/>
                </a:solidFill>
                <a:latin typeface="Courier New" pitchFamily="34" charset="0"/>
                <a:ea typeface="Courier New" pitchFamily="34" charset="-122"/>
                <a:cs typeface="Courier New" pitchFamily="34" charset="-120"/>
              </a:rPr>
              <a:t>USERS</a:t>
            </a:r>
            <a:endParaRPr lang="en-US" sz="1200" dirty="0"/>
          </a:p>
        </p:txBody>
      </p:sp>
      <p:sp>
        <p:nvSpPr>
          <p:cNvPr id="9" name="Panel glow"/>
          <p:cNvSpPr/>
          <p:nvPr/>
        </p:nvSpPr>
        <p:spPr>
          <a:xfrm>
            <a:off x="6217920" y="1463040"/>
            <a:ext cx="5394960" cy="2103120"/>
          </a:xfrm>
          <a:custGeom>
            <a:avLst/>
            <a:gdLst/>
            <a:ahLst/>
            <a:cxnLst/>
            <a:rect l="l" t="t" r="r" b="b"/>
            <a:pathLst>
              <a:path w="5394960" h="2103120">
                <a:moveTo>
                  <a:pt x="0" y="0"/>
                </a:moveTo>
                <a:lnTo>
                  <a:pt x="5175504" y="0"/>
                </a:lnTo>
                <a:lnTo>
                  <a:pt x="5394960" y="219456"/>
                </a:lnTo>
                <a:lnTo>
                  <a:pt x="5394960" y="2103120"/>
                </a:lnTo>
                <a:lnTo>
                  <a:pt x="219456" y="2103120"/>
                </a:lnTo>
                <a:lnTo>
                  <a:pt x="0" y="1883664"/>
                </a:lnTo>
                <a:close/>
              </a:path>
            </a:pathLst>
          </a:custGeom>
          <a:ln w="63500">
            <a:solidFill>
              <a:srgbClr val="9B5CFF">
                <a:alpha val="14000"/>
              </a:srgbClr>
            </a:solidFill>
            <a:prstDash val="solid"/>
          </a:ln>
        </p:spPr>
      </p:sp>
      <p:sp>
        <p:nvSpPr>
          <p:cNvPr id="10" name="HUD panel"/>
          <p:cNvSpPr/>
          <p:nvPr/>
        </p:nvSpPr>
        <p:spPr>
          <a:xfrm>
            <a:off x="6217920" y="1463040"/>
            <a:ext cx="5394960" cy="2103120"/>
          </a:xfrm>
          <a:custGeom>
            <a:avLst/>
            <a:gdLst/>
            <a:ahLst/>
            <a:cxnLst/>
            <a:rect l="l" t="t" r="r" b="b"/>
            <a:pathLst>
              <a:path w="5394960" h="2103120">
                <a:moveTo>
                  <a:pt x="0" y="0"/>
                </a:moveTo>
                <a:lnTo>
                  <a:pt x="5175504" y="0"/>
                </a:lnTo>
                <a:lnTo>
                  <a:pt x="5394960" y="219456"/>
                </a:lnTo>
                <a:lnTo>
                  <a:pt x="5394960" y="2103120"/>
                </a:lnTo>
                <a:lnTo>
                  <a:pt x="219456" y="2103120"/>
                </a:lnTo>
                <a:lnTo>
                  <a:pt x="0" y="1883664"/>
                </a:lnTo>
                <a:close/>
              </a:path>
            </a:pathLst>
          </a:custGeom>
          <a:solidFill>
            <a:schemeClr val="tx2">
              <a:alpha val="88000"/>
            </a:schemeClr>
          </a:solidFill>
          <a:ln w="15875">
            <a:solidFill>
              <a:srgbClr val="9B5CFF">
                <a:alpha val="90000"/>
              </a:srgbClr>
            </a:solidFill>
            <a:prstDash val="solid"/>
          </a:ln>
        </p:spPr>
      </p:sp>
      <p:sp>
        <p:nvSpPr>
          <p:cNvPr id="11" name="Icon chip"/>
          <p:cNvSpPr/>
          <p:nvPr/>
        </p:nvSpPr>
        <p:spPr>
          <a:xfrm>
            <a:off x="6583680" y="2057400"/>
            <a:ext cx="914400" cy="914400"/>
          </a:xfrm>
          <a:custGeom>
            <a:avLst/>
            <a:gdLst/>
            <a:ahLst/>
            <a:cxnLst/>
            <a:rect l="l" t="t" r="r" b="b"/>
            <a:pathLst>
              <a:path w="914400" h="914400">
                <a:moveTo>
                  <a:pt x="237744" y="0"/>
                </a:moveTo>
                <a:lnTo>
                  <a:pt x="676656" y="0"/>
                </a:lnTo>
                <a:lnTo>
                  <a:pt x="914400" y="237744"/>
                </a:lnTo>
                <a:lnTo>
                  <a:pt x="914400" y="676656"/>
                </a:lnTo>
                <a:lnTo>
                  <a:pt x="676656" y="914400"/>
                </a:lnTo>
                <a:lnTo>
                  <a:pt x="237744" y="914400"/>
                </a:lnTo>
                <a:lnTo>
                  <a:pt x="0" y="676656"/>
                </a:lnTo>
                <a:lnTo>
                  <a:pt x="0" y="237744"/>
                </a:lnTo>
                <a:close/>
              </a:path>
            </a:pathLst>
          </a:custGeom>
          <a:solidFill>
            <a:schemeClr val="tx1">
              <a:alpha val="75000"/>
            </a:schemeClr>
          </a:solidFill>
          <a:ln w="19050">
            <a:solidFill>
              <a:srgbClr val="9B5CFF"/>
            </a:solidFill>
            <a:prstDash val="solid"/>
          </a:ln>
        </p:spPr>
      </p:sp>
      <p:pic>
        <p:nvPicPr>
          <p:cNvPr id="12" name="Icon" descr="icon"/>
          <p:cNvPicPr>
            <a:picLocks noChangeAspect="1"/>
          </p:cNvPicPr>
          <p:nvPr/>
        </p:nvPicPr>
        <p:blipFill>
          <a:blip r:embed="rId4"/>
          <a:stretch>
            <a:fillRect/>
          </a:stretch>
        </p:blipFill>
        <p:spPr>
          <a:xfrm>
            <a:off x="6629857" y="2103577"/>
            <a:ext cx="822046" cy="822046"/>
          </a:xfrm>
          <a:prstGeom prst="rect">
            <a:avLst/>
          </a:prstGeom>
        </p:spPr>
      </p:pic>
      <p:sp>
        <p:nvSpPr>
          <p:cNvPr id="13" name="Text 9"/>
          <p:cNvSpPr txBox="1"/>
          <p:nvPr/>
        </p:nvSpPr>
        <p:spPr>
          <a:xfrm>
            <a:off x="7909560" y="1691640"/>
            <a:ext cx="3383280" cy="868680"/>
          </a:xfrm>
          <a:prstGeom prst="rect">
            <a:avLst/>
          </a:prstGeom>
          <a:noFill/>
          <a:ln/>
        </p:spPr>
        <p:txBody>
          <a:bodyPr wrap="square" lIns="0" tIns="0" rIns="0" bIns="0" rtlCol="0" anchor="ctr"/>
          <a:lstStyle/>
          <a:p>
            <a:pPr marL="0" indent="0">
              <a:buNone/>
            </a:pPr>
            <a:r>
              <a:rPr lang="en-US" sz="5400" b="1" dirty="0">
                <a:solidFill>
                  <a:srgbClr val="9B5CFF"/>
                </a:solidFill>
                <a:latin typeface="Courier New" pitchFamily="34" charset="0"/>
                <a:ea typeface="Courier New" pitchFamily="34" charset="-122"/>
                <a:cs typeface="Courier New" pitchFamily="34" charset="-120"/>
              </a:rPr>
              <a:t>158</a:t>
            </a:r>
            <a:endParaRPr lang="en-US" sz="5400" dirty="0"/>
          </a:p>
        </p:txBody>
      </p:sp>
      <p:sp>
        <p:nvSpPr>
          <p:cNvPr id="14" name="Text 10"/>
          <p:cNvSpPr txBox="1"/>
          <p:nvPr/>
        </p:nvSpPr>
        <p:spPr>
          <a:xfrm>
            <a:off x="7909560" y="2606040"/>
            <a:ext cx="3566160" cy="365760"/>
          </a:xfrm>
          <a:prstGeom prst="rect">
            <a:avLst/>
          </a:prstGeom>
          <a:noFill/>
          <a:ln/>
        </p:spPr>
        <p:txBody>
          <a:bodyPr wrap="square" lIns="0" tIns="0" rIns="0" bIns="0" rtlCol="0" anchor="t"/>
          <a:lstStyle/>
          <a:p>
            <a:pPr marL="0" indent="0">
              <a:buNone/>
            </a:pPr>
            <a:r>
              <a:rPr lang="en-US" sz="1400" b="1" dirty="0">
                <a:solidFill>
                  <a:schemeClr val="bg1"/>
                </a:solidFill>
                <a:latin typeface="Courier New" pitchFamily="34" charset="0"/>
                <a:ea typeface="Courier New" pitchFamily="34" charset="-122"/>
                <a:cs typeface="Courier New" pitchFamily="34" charset="-120"/>
              </a:rPr>
              <a:t>STUDENTS  |  52.67%</a:t>
            </a:r>
            <a:endParaRPr lang="en-US" sz="1400" dirty="0"/>
          </a:p>
        </p:txBody>
      </p:sp>
      <p:sp>
        <p:nvSpPr>
          <p:cNvPr id="15" name="Text 11"/>
          <p:cNvSpPr txBox="1"/>
          <p:nvPr/>
        </p:nvSpPr>
        <p:spPr>
          <a:xfrm>
            <a:off x="7909560" y="3017520"/>
            <a:ext cx="3566160" cy="365760"/>
          </a:xfrm>
          <a:prstGeom prst="rect">
            <a:avLst/>
          </a:prstGeom>
          <a:noFill/>
          <a:ln/>
        </p:spPr>
        <p:txBody>
          <a:bodyPr wrap="square" lIns="0" tIns="0" rIns="0" bIns="0" rtlCol="0" anchor="t"/>
          <a:lstStyle/>
          <a:p>
            <a:pPr marL="0" indent="0">
              <a:buNone/>
            </a:pPr>
            <a:r>
              <a:rPr lang="en-US" sz="1400" dirty="0">
                <a:solidFill>
                  <a:schemeClr val="bg2"/>
                </a:solidFill>
              </a:rPr>
              <a:t>The largest group in the dataset</a:t>
            </a:r>
            <a:endParaRPr lang="en-US" sz="1400" dirty="0"/>
          </a:p>
        </p:txBody>
      </p:sp>
      <p:sp>
        <p:nvSpPr>
          <p:cNvPr id="16" name="Panel glow"/>
          <p:cNvSpPr/>
          <p:nvPr/>
        </p:nvSpPr>
        <p:spPr>
          <a:xfrm>
            <a:off x="6217920" y="3931920"/>
            <a:ext cx="5394960" cy="2103120"/>
          </a:xfrm>
          <a:custGeom>
            <a:avLst/>
            <a:gdLst/>
            <a:ahLst/>
            <a:cxnLst/>
            <a:rect l="l" t="t" r="r" b="b"/>
            <a:pathLst>
              <a:path w="5394960" h="2103120">
                <a:moveTo>
                  <a:pt x="0" y="0"/>
                </a:moveTo>
                <a:lnTo>
                  <a:pt x="5175504" y="0"/>
                </a:lnTo>
                <a:lnTo>
                  <a:pt x="5394960" y="219456"/>
                </a:lnTo>
                <a:lnTo>
                  <a:pt x="5394960" y="2103120"/>
                </a:lnTo>
                <a:lnTo>
                  <a:pt x="219456" y="2103120"/>
                </a:lnTo>
                <a:lnTo>
                  <a:pt x="0" y="1883664"/>
                </a:lnTo>
                <a:close/>
              </a:path>
            </a:pathLst>
          </a:custGeom>
          <a:ln w="63500">
            <a:solidFill>
              <a:srgbClr val="25F4EE">
                <a:alpha val="14000"/>
              </a:srgbClr>
            </a:solidFill>
            <a:prstDash val="solid"/>
          </a:ln>
        </p:spPr>
      </p:sp>
      <p:sp>
        <p:nvSpPr>
          <p:cNvPr id="17" name="HUD panel"/>
          <p:cNvSpPr/>
          <p:nvPr/>
        </p:nvSpPr>
        <p:spPr>
          <a:xfrm>
            <a:off x="6217920" y="3931920"/>
            <a:ext cx="5394960" cy="2103120"/>
          </a:xfrm>
          <a:custGeom>
            <a:avLst/>
            <a:gdLst/>
            <a:ahLst/>
            <a:cxnLst/>
            <a:rect l="l" t="t" r="r" b="b"/>
            <a:pathLst>
              <a:path w="5394960" h="2103120">
                <a:moveTo>
                  <a:pt x="0" y="0"/>
                </a:moveTo>
                <a:lnTo>
                  <a:pt x="5175504" y="0"/>
                </a:lnTo>
                <a:lnTo>
                  <a:pt x="5394960" y="219456"/>
                </a:lnTo>
                <a:lnTo>
                  <a:pt x="5394960" y="2103120"/>
                </a:lnTo>
                <a:lnTo>
                  <a:pt x="219456" y="2103120"/>
                </a:lnTo>
                <a:lnTo>
                  <a:pt x="0" y="1883664"/>
                </a:lnTo>
                <a:close/>
              </a:path>
            </a:pathLst>
          </a:custGeom>
          <a:solidFill>
            <a:schemeClr val="tx2">
              <a:alpha val="88000"/>
            </a:schemeClr>
          </a:solidFill>
          <a:ln w="15875">
            <a:solidFill>
              <a:srgbClr val="25F4EE">
                <a:alpha val="90000"/>
              </a:srgbClr>
            </a:solidFill>
            <a:prstDash val="solid"/>
          </a:ln>
        </p:spPr>
      </p:sp>
      <p:sp>
        <p:nvSpPr>
          <p:cNvPr id="18" name="Icon chip"/>
          <p:cNvSpPr/>
          <p:nvPr/>
        </p:nvSpPr>
        <p:spPr>
          <a:xfrm>
            <a:off x="6583680" y="4526280"/>
            <a:ext cx="914400" cy="914400"/>
          </a:xfrm>
          <a:custGeom>
            <a:avLst/>
            <a:gdLst/>
            <a:ahLst/>
            <a:cxnLst/>
            <a:rect l="l" t="t" r="r" b="b"/>
            <a:pathLst>
              <a:path w="914400" h="914400">
                <a:moveTo>
                  <a:pt x="237744" y="0"/>
                </a:moveTo>
                <a:lnTo>
                  <a:pt x="676656" y="0"/>
                </a:lnTo>
                <a:lnTo>
                  <a:pt x="914400" y="237744"/>
                </a:lnTo>
                <a:lnTo>
                  <a:pt x="914400" y="676656"/>
                </a:lnTo>
                <a:lnTo>
                  <a:pt x="676656" y="914400"/>
                </a:lnTo>
                <a:lnTo>
                  <a:pt x="237744" y="914400"/>
                </a:lnTo>
                <a:lnTo>
                  <a:pt x="0" y="676656"/>
                </a:lnTo>
                <a:lnTo>
                  <a:pt x="0" y="237744"/>
                </a:lnTo>
                <a:close/>
              </a:path>
            </a:pathLst>
          </a:custGeom>
          <a:solidFill>
            <a:schemeClr val="tx1">
              <a:alpha val="75000"/>
            </a:schemeClr>
          </a:solidFill>
          <a:ln w="19050">
            <a:solidFill>
              <a:srgbClr val="25F4EE"/>
            </a:solidFill>
            <a:prstDash val="solid"/>
          </a:ln>
        </p:spPr>
      </p:sp>
      <p:pic>
        <p:nvPicPr>
          <p:cNvPr id="19" name="Icon" descr="icon"/>
          <p:cNvPicPr>
            <a:picLocks noChangeAspect="1"/>
          </p:cNvPicPr>
          <p:nvPr/>
        </p:nvPicPr>
        <p:blipFill>
          <a:blip r:embed="rId5"/>
          <a:stretch>
            <a:fillRect/>
          </a:stretch>
        </p:blipFill>
        <p:spPr>
          <a:xfrm>
            <a:off x="6629857" y="4572457"/>
            <a:ext cx="822046" cy="822046"/>
          </a:xfrm>
          <a:prstGeom prst="rect">
            <a:avLst/>
          </a:prstGeom>
        </p:spPr>
      </p:pic>
      <p:sp>
        <p:nvSpPr>
          <p:cNvPr id="20" name="Text 15"/>
          <p:cNvSpPr txBox="1"/>
          <p:nvPr/>
        </p:nvSpPr>
        <p:spPr>
          <a:xfrm>
            <a:off x="7909560" y="4160520"/>
            <a:ext cx="3383280" cy="868680"/>
          </a:xfrm>
          <a:prstGeom prst="rect">
            <a:avLst/>
          </a:prstGeom>
          <a:noFill/>
          <a:ln/>
        </p:spPr>
        <p:txBody>
          <a:bodyPr wrap="square" lIns="0" tIns="0" rIns="0" bIns="0" rtlCol="0" anchor="ctr"/>
          <a:lstStyle/>
          <a:p>
            <a:pPr marL="0" indent="0">
              <a:buNone/>
            </a:pPr>
            <a:r>
              <a:rPr lang="en-US" sz="5400" b="1" dirty="0">
                <a:solidFill>
                  <a:srgbClr val="25F4EE"/>
                </a:solidFill>
                <a:latin typeface="Courier New" pitchFamily="34" charset="0"/>
                <a:ea typeface="Courier New" pitchFamily="34" charset="-122"/>
                <a:cs typeface="Courier New" pitchFamily="34" charset="-120"/>
              </a:rPr>
              <a:t>142</a:t>
            </a:r>
            <a:endParaRPr lang="en-US" sz="5400" dirty="0"/>
          </a:p>
        </p:txBody>
      </p:sp>
      <p:sp>
        <p:nvSpPr>
          <p:cNvPr id="21" name="Text 16"/>
          <p:cNvSpPr txBox="1"/>
          <p:nvPr/>
        </p:nvSpPr>
        <p:spPr>
          <a:xfrm>
            <a:off x="7909560" y="5074920"/>
            <a:ext cx="3566160" cy="365760"/>
          </a:xfrm>
          <a:prstGeom prst="rect">
            <a:avLst/>
          </a:prstGeom>
          <a:noFill/>
          <a:ln/>
        </p:spPr>
        <p:txBody>
          <a:bodyPr wrap="square" lIns="0" tIns="0" rIns="0" bIns="0" rtlCol="0" anchor="t"/>
          <a:lstStyle/>
          <a:p>
            <a:pPr marL="0" indent="0">
              <a:buNone/>
            </a:pPr>
            <a:r>
              <a:rPr lang="en-US" sz="1400" b="1" dirty="0">
                <a:solidFill>
                  <a:schemeClr val="bg1"/>
                </a:solidFill>
                <a:latin typeface="Courier New" pitchFamily="34" charset="0"/>
                <a:ea typeface="Courier New" pitchFamily="34" charset="-122"/>
                <a:cs typeface="Courier New" pitchFamily="34" charset="-120"/>
              </a:rPr>
              <a:t>PROFESSIONALS  |  47.33%</a:t>
            </a:r>
            <a:endParaRPr lang="en-US" sz="1400" dirty="0"/>
          </a:p>
        </p:txBody>
      </p:sp>
      <p:sp>
        <p:nvSpPr>
          <p:cNvPr id="22" name="Text 17"/>
          <p:cNvSpPr txBox="1"/>
          <p:nvPr/>
        </p:nvSpPr>
        <p:spPr>
          <a:xfrm>
            <a:off x="7909560" y="5486400"/>
            <a:ext cx="3566160" cy="365760"/>
          </a:xfrm>
          <a:prstGeom prst="rect">
            <a:avLst/>
          </a:prstGeom>
          <a:noFill/>
          <a:ln/>
        </p:spPr>
        <p:txBody>
          <a:bodyPr wrap="square" lIns="0" tIns="0" rIns="0" bIns="0" rtlCol="0" anchor="t"/>
          <a:lstStyle/>
          <a:p>
            <a:pPr marL="0" indent="0">
              <a:buNone/>
            </a:pPr>
            <a:r>
              <a:rPr lang="en-US" sz="1400" dirty="0">
                <a:solidFill>
                  <a:schemeClr val="bg2"/>
                </a:solidFill>
              </a:rPr>
              <a:t>Close behind: AI is a workplace tool too</a:t>
            </a:r>
            <a:endParaRPr lang="en-US" sz="14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5F4EE"/>
                </a:solidFill>
                <a:latin typeface="Courier New"/>
                <a:ea typeface="Courier New"/>
                <a:cs typeface="Courier New"/>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300" dirty="0">
                <a:solidFill>
                  <a:srgbClr val="25F4EE"/>
                </a:solidFill>
                <a:latin typeface="Courier New" pitchFamily="34" charset="0"/>
                <a:ea typeface="Courier New" pitchFamily="34" charset="-122"/>
                <a:cs typeface="Courier New" pitchFamily="34" charset="-120"/>
              </a:rPr>
              <a:t>// 03  AI TOOLS</a:t>
            </a:r>
            <a:endParaRPr lang="en-US" sz="1200" dirty="0"/>
          </a:p>
        </p:txBody>
      </p:sp>
      <p:sp>
        <p:nvSpPr>
          <p:cNvPr id="3" name="Text 1"/>
          <p:cNvSpPr>
            <a:spLocks noGrp="1"/>
          </p:cNvSpPr>
          <p:nvPr>
            <p:ph type="title" idx="101" hasCustomPrompt="1"/>
          </p:nvPr>
        </p:nvSpPr>
        <p:spPr>
          <a:xfrm>
            <a:off x="548640" y="530352"/>
            <a:ext cx="11064240" cy="777240"/>
          </a:xfrm>
          <a:prstGeom prst="rect">
            <a:avLst/>
          </a:prstGeom>
          <a:noFill/>
          <a:ln/>
        </p:spPr>
        <p:txBody>
          <a:bodyPr wrap="square" lIns="0" tIns="0" rIns="0" bIns="0" rtlCol="0" anchor="ctr"/>
          <a:lstStyle/>
          <a:p>
            <a:pPr marL="0" indent="0" algn="l">
              <a:buNone/>
            </a:pPr>
            <a:r>
              <a:rPr lang="en-US" sz="3400" b="1" dirty="0">
                <a:solidFill>
                  <a:schemeClr val="bg1"/>
                </a:solidFill>
              </a:rPr>
              <a:t>ChatGPT dominates the AI tool landscape</a:t>
            </a:r>
            <a:endParaRPr lang="en-US" sz="3400" dirty="0"/>
          </a:p>
        </p:txBody>
      </p:sp>
      <p:sp>
        <p:nvSpPr>
          <p:cNvPr id="4" name="Panel glow"/>
          <p:cNvSpPr/>
          <p:nvPr/>
        </p:nvSpPr>
        <p:spPr>
          <a:xfrm>
            <a:off x="548640" y="1463040"/>
            <a:ext cx="7315200" cy="4572000"/>
          </a:xfrm>
          <a:custGeom>
            <a:avLst/>
            <a:gdLst/>
            <a:ahLst/>
            <a:cxnLst/>
            <a:rect l="l" t="t" r="r" b="b"/>
            <a:pathLst>
              <a:path w="7315200" h="4572000">
                <a:moveTo>
                  <a:pt x="0" y="0"/>
                </a:moveTo>
                <a:lnTo>
                  <a:pt x="7095744" y="0"/>
                </a:lnTo>
                <a:lnTo>
                  <a:pt x="7315200" y="219456"/>
                </a:lnTo>
                <a:lnTo>
                  <a:pt x="7315200" y="4572000"/>
                </a:lnTo>
                <a:lnTo>
                  <a:pt x="219456" y="4572000"/>
                </a:lnTo>
                <a:lnTo>
                  <a:pt x="0" y="4352544"/>
                </a:lnTo>
                <a:close/>
              </a:path>
            </a:pathLst>
          </a:custGeom>
          <a:ln w="63500">
            <a:solidFill>
              <a:srgbClr val="25F4EE">
                <a:alpha val="14000"/>
              </a:srgbClr>
            </a:solidFill>
            <a:prstDash val="solid"/>
          </a:ln>
        </p:spPr>
      </p:sp>
      <p:sp>
        <p:nvSpPr>
          <p:cNvPr id="5" name="HUD panel"/>
          <p:cNvSpPr/>
          <p:nvPr/>
        </p:nvSpPr>
        <p:spPr>
          <a:xfrm>
            <a:off x="548640" y="1463040"/>
            <a:ext cx="7315200" cy="4572000"/>
          </a:xfrm>
          <a:custGeom>
            <a:avLst/>
            <a:gdLst/>
            <a:ahLst/>
            <a:cxnLst/>
            <a:rect l="l" t="t" r="r" b="b"/>
            <a:pathLst>
              <a:path w="7315200" h="4572000">
                <a:moveTo>
                  <a:pt x="0" y="0"/>
                </a:moveTo>
                <a:lnTo>
                  <a:pt x="7095744" y="0"/>
                </a:lnTo>
                <a:lnTo>
                  <a:pt x="7315200" y="219456"/>
                </a:lnTo>
                <a:lnTo>
                  <a:pt x="7315200" y="4572000"/>
                </a:lnTo>
                <a:lnTo>
                  <a:pt x="219456" y="4572000"/>
                </a:lnTo>
                <a:lnTo>
                  <a:pt x="0" y="4352544"/>
                </a:lnTo>
                <a:close/>
              </a:path>
            </a:pathLst>
          </a:custGeom>
          <a:solidFill>
            <a:schemeClr val="tx2">
              <a:alpha val="88000"/>
            </a:schemeClr>
          </a:solidFill>
          <a:ln w="15875">
            <a:solidFill>
              <a:srgbClr val="25F4EE">
                <a:alpha val="90000"/>
              </a:srgbClr>
            </a:solidFill>
            <a:prstDash val="solid"/>
          </a:ln>
        </p:spPr>
      </p:sp>
      <p:graphicFrame>
        <p:nvGraphicFramePr>
          <p:cNvPr id="6" name="Chart 0"/>
          <p:cNvGraphicFramePr/>
          <p:nvPr/>
        </p:nvGraphicFramePr>
        <p:xfrm>
          <a:off x="777240" y="1600200"/>
          <a:ext cx="68580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868680" y="5669280"/>
            <a:ext cx="6766560" cy="274320"/>
          </a:xfrm>
          <a:prstGeom prst="rect">
            <a:avLst/>
          </a:prstGeom>
          <a:noFill/>
          <a:ln/>
        </p:spPr>
        <p:txBody>
          <a:bodyPr wrap="square" lIns="0" tIns="0" rIns="0" bIns="0" rtlCol="0" anchor="t"/>
          <a:lstStyle/>
          <a:p>
            <a:pPr marL="0" indent="0">
              <a:buNone/>
            </a:pPr>
            <a:r>
              <a:rPr lang="en-US" sz="1000" dirty="0">
                <a:solidFill>
                  <a:schemeClr val="bg2"/>
                </a:solidFill>
                <a:latin typeface="Courier New" pitchFamily="34" charset="0"/>
                <a:ea typeface="Courier New" pitchFamily="34" charset="-122"/>
                <a:cs typeface="Courier New" pitchFamily="34" charset="-120"/>
              </a:rPr>
              <a:t>NUMBER OF USERS PER TOOL. READ FROM THE DASHBOARD BAR CHART (APPROXIMATE).</a:t>
            </a:r>
            <a:endParaRPr lang="en-US" sz="1000" dirty="0"/>
          </a:p>
        </p:txBody>
      </p:sp>
      <p:sp>
        <p:nvSpPr>
          <p:cNvPr id="8" name="Panel glow"/>
          <p:cNvSpPr/>
          <p:nvPr/>
        </p:nvSpPr>
        <p:spPr>
          <a:xfrm>
            <a:off x="8138160" y="1463040"/>
            <a:ext cx="3502152" cy="1371600"/>
          </a:xfrm>
          <a:custGeom>
            <a:avLst/>
            <a:gdLst/>
            <a:ahLst/>
            <a:cxnLst/>
            <a:rect l="l" t="t" r="r" b="b"/>
            <a:pathLst>
              <a:path w="3502152" h="1371600">
                <a:moveTo>
                  <a:pt x="0" y="0"/>
                </a:moveTo>
                <a:lnTo>
                  <a:pt x="3319272" y="0"/>
                </a:lnTo>
                <a:lnTo>
                  <a:pt x="3502152" y="182880"/>
                </a:lnTo>
                <a:lnTo>
                  <a:pt x="3502152" y="1371600"/>
                </a:lnTo>
                <a:lnTo>
                  <a:pt x="182880" y="1371600"/>
                </a:lnTo>
                <a:lnTo>
                  <a:pt x="0" y="1188720"/>
                </a:lnTo>
                <a:close/>
              </a:path>
            </a:pathLst>
          </a:custGeom>
          <a:ln w="63500">
            <a:solidFill>
              <a:srgbClr val="FF2E93">
                <a:alpha val="14000"/>
              </a:srgbClr>
            </a:solidFill>
            <a:prstDash val="solid"/>
          </a:ln>
        </p:spPr>
      </p:sp>
      <p:sp>
        <p:nvSpPr>
          <p:cNvPr id="9" name="HUD panel"/>
          <p:cNvSpPr/>
          <p:nvPr/>
        </p:nvSpPr>
        <p:spPr>
          <a:xfrm>
            <a:off x="8138160" y="1463040"/>
            <a:ext cx="3502152" cy="1371600"/>
          </a:xfrm>
          <a:custGeom>
            <a:avLst/>
            <a:gdLst/>
            <a:ahLst/>
            <a:cxnLst/>
            <a:rect l="l" t="t" r="r" b="b"/>
            <a:pathLst>
              <a:path w="3502152" h="1371600">
                <a:moveTo>
                  <a:pt x="0" y="0"/>
                </a:moveTo>
                <a:lnTo>
                  <a:pt x="3319272" y="0"/>
                </a:lnTo>
                <a:lnTo>
                  <a:pt x="3502152" y="182880"/>
                </a:lnTo>
                <a:lnTo>
                  <a:pt x="3502152" y="1371600"/>
                </a:lnTo>
                <a:lnTo>
                  <a:pt x="182880" y="1371600"/>
                </a:lnTo>
                <a:lnTo>
                  <a:pt x="0" y="1188720"/>
                </a:lnTo>
                <a:close/>
              </a:path>
            </a:pathLst>
          </a:custGeom>
          <a:solidFill>
            <a:schemeClr val="tx2">
              <a:alpha val="88000"/>
            </a:schemeClr>
          </a:solidFill>
          <a:ln w="15875">
            <a:solidFill>
              <a:srgbClr val="FF2E93">
                <a:alpha val="90000"/>
              </a:srgbClr>
            </a:solidFill>
            <a:prstDash val="solid"/>
          </a:ln>
        </p:spPr>
      </p:sp>
      <p:sp>
        <p:nvSpPr>
          <p:cNvPr id="10" name="Icon chip"/>
          <p:cNvSpPr/>
          <p:nvPr/>
        </p:nvSpPr>
        <p:spPr>
          <a:xfrm>
            <a:off x="8366760" y="1645920"/>
            <a:ext cx="548640" cy="548640"/>
          </a:xfrm>
          <a:custGeom>
            <a:avLst/>
            <a:gdLst/>
            <a:ahLst/>
            <a:cxnLst/>
            <a:rect l="l" t="t" r="r" b="b"/>
            <a:pathLst>
              <a:path w="548640" h="548640">
                <a:moveTo>
                  <a:pt x="142646" y="0"/>
                </a:moveTo>
                <a:lnTo>
                  <a:pt x="405994" y="0"/>
                </a:lnTo>
                <a:lnTo>
                  <a:pt x="548640" y="142646"/>
                </a:lnTo>
                <a:lnTo>
                  <a:pt x="548640" y="405994"/>
                </a:lnTo>
                <a:lnTo>
                  <a:pt x="405994" y="548640"/>
                </a:lnTo>
                <a:lnTo>
                  <a:pt x="142646" y="548640"/>
                </a:lnTo>
                <a:lnTo>
                  <a:pt x="0" y="405994"/>
                </a:lnTo>
                <a:lnTo>
                  <a:pt x="0" y="142646"/>
                </a:lnTo>
                <a:close/>
              </a:path>
            </a:pathLst>
          </a:custGeom>
          <a:solidFill>
            <a:schemeClr val="tx1">
              <a:alpha val="75000"/>
            </a:schemeClr>
          </a:solidFill>
          <a:ln w="19050">
            <a:solidFill>
              <a:srgbClr val="FF2E93"/>
            </a:solidFill>
            <a:prstDash val="solid"/>
          </a:ln>
        </p:spPr>
      </p:sp>
      <p:pic>
        <p:nvPicPr>
          <p:cNvPr id="11" name="Icon" descr="icon"/>
          <p:cNvPicPr>
            <a:picLocks noChangeAspect="1"/>
          </p:cNvPicPr>
          <p:nvPr/>
        </p:nvPicPr>
        <p:blipFill>
          <a:blip r:embed="rId4"/>
          <a:stretch>
            <a:fillRect/>
          </a:stretch>
        </p:blipFill>
        <p:spPr>
          <a:xfrm>
            <a:off x="8394466" y="1673626"/>
            <a:ext cx="493227" cy="493227"/>
          </a:xfrm>
          <a:prstGeom prst="rect">
            <a:avLst/>
          </a:prstGeom>
        </p:spPr>
      </p:pic>
      <p:sp>
        <p:nvSpPr>
          <p:cNvPr id="12" name="Text 8"/>
          <p:cNvSpPr txBox="1"/>
          <p:nvPr/>
        </p:nvSpPr>
        <p:spPr>
          <a:xfrm>
            <a:off x="9098280" y="1645920"/>
            <a:ext cx="2468880" cy="548640"/>
          </a:xfrm>
          <a:prstGeom prst="rect">
            <a:avLst/>
          </a:prstGeom>
          <a:noFill/>
          <a:ln/>
        </p:spPr>
        <p:txBody>
          <a:bodyPr wrap="square" lIns="0" tIns="0" rIns="0" bIns="0" rtlCol="0" anchor="ctr"/>
          <a:lstStyle/>
          <a:p>
            <a:pPr marL="0" indent="0">
              <a:buNone/>
            </a:pPr>
            <a:r>
              <a:rPr lang="en-US" sz="1800" b="1" dirty="0">
                <a:solidFill>
                  <a:schemeClr val="bg1"/>
                </a:solidFill>
              </a:rPr>
              <a:t>About 133 users</a:t>
            </a:r>
            <a:endParaRPr lang="en-US" sz="1800" dirty="0"/>
          </a:p>
        </p:txBody>
      </p:sp>
      <p:sp>
        <p:nvSpPr>
          <p:cNvPr id="13" name="Text 9"/>
          <p:cNvSpPr txBox="1"/>
          <p:nvPr/>
        </p:nvSpPr>
        <p:spPr>
          <a:xfrm>
            <a:off x="8412480" y="2267712"/>
            <a:ext cx="3017520" cy="548640"/>
          </a:xfrm>
          <a:prstGeom prst="rect">
            <a:avLst/>
          </a:prstGeom>
          <a:noFill/>
          <a:ln/>
        </p:spPr>
        <p:txBody>
          <a:bodyPr wrap="square" lIns="0" tIns="0" rIns="0" bIns="0" rtlCol="0" anchor="t"/>
          <a:lstStyle/>
          <a:p>
            <a:pPr marL="0" indent="0">
              <a:buNone/>
            </a:pPr>
            <a:r>
              <a:rPr lang="en-US" sz="1400" dirty="0">
                <a:solidFill>
                  <a:schemeClr val="bg2"/>
                </a:solidFill>
              </a:rPr>
              <a:t>ChatGPT has over 3 times the users of the next tool.</a:t>
            </a:r>
            <a:endParaRPr lang="en-US" sz="1400" dirty="0"/>
          </a:p>
        </p:txBody>
      </p:sp>
      <p:sp>
        <p:nvSpPr>
          <p:cNvPr id="14" name="Panel glow"/>
          <p:cNvSpPr/>
          <p:nvPr/>
        </p:nvSpPr>
        <p:spPr>
          <a:xfrm>
            <a:off x="8138160" y="3017520"/>
            <a:ext cx="3502152" cy="1371600"/>
          </a:xfrm>
          <a:custGeom>
            <a:avLst/>
            <a:gdLst/>
            <a:ahLst/>
            <a:cxnLst/>
            <a:rect l="l" t="t" r="r" b="b"/>
            <a:pathLst>
              <a:path w="3502152" h="1371600">
                <a:moveTo>
                  <a:pt x="0" y="0"/>
                </a:moveTo>
                <a:lnTo>
                  <a:pt x="3319272" y="0"/>
                </a:lnTo>
                <a:lnTo>
                  <a:pt x="3502152" y="182880"/>
                </a:lnTo>
                <a:lnTo>
                  <a:pt x="3502152" y="1371600"/>
                </a:lnTo>
                <a:lnTo>
                  <a:pt x="182880" y="1371600"/>
                </a:lnTo>
                <a:lnTo>
                  <a:pt x="0" y="1188720"/>
                </a:lnTo>
                <a:close/>
              </a:path>
            </a:pathLst>
          </a:custGeom>
          <a:ln w="63500">
            <a:solidFill>
              <a:srgbClr val="25F4EE">
                <a:alpha val="14000"/>
              </a:srgbClr>
            </a:solidFill>
            <a:prstDash val="solid"/>
          </a:ln>
        </p:spPr>
      </p:sp>
      <p:sp>
        <p:nvSpPr>
          <p:cNvPr id="15" name="HUD panel"/>
          <p:cNvSpPr/>
          <p:nvPr/>
        </p:nvSpPr>
        <p:spPr>
          <a:xfrm>
            <a:off x="8138160" y="3017520"/>
            <a:ext cx="3502152" cy="1371600"/>
          </a:xfrm>
          <a:custGeom>
            <a:avLst/>
            <a:gdLst/>
            <a:ahLst/>
            <a:cxnLst/>
            <a:rect l="l" t="t" r="r" b="b"/>
            <a:pathLst>
              <a:path w="3502152" h="1371600">
                <a:moveTo>
                  <a:pt x="0" y="0"/>
                </a:moveTo>
                <a:lnTo>
                  <a:pt x="3319272" y="0"/>
                </a:lnTo>
                <a:lnTo>
                  <a:pt x="3502152" y="182880"/>
                </a:lnTo>
                <a:lnTo>
                  <a:pt x="3502152" y="1371600"/>
                </a:lnTo>
                <a:lnTo>
                  <a:pt x="182880" y="1371600"/>
                </a:lnTo>
                <a:lnTo>
                  <a:pt x="0" y="1188720"/>
                </a:lnTo>
                <a:close/>
              </a:path>
            </a:pathLst>
          </a:custGeom>
          <a:solidFill>
            <a:schemeClr val="tx2">
              <a:alpha val="88000"/>
            </a:schemeClr>
          </a:solidFill>
          <a:ln w="15875">
            <a:solidFill>
              <a:srgbClr val="25F4EE">
                <a:alpha val="90000"/>
              </a:srgbClr>
            </a:solidFill>
            <a:prstDash val="solid"/>
          </a:ln>
        </p:spPr>
      </p:sp>
      <p:sp>
        <p:nvSpPr>
          <p:cNvPr id="16" name="Icon chip"/>
          <p:cNvSpPr/>
          <p:nvPr/>
        </p:nvSpPr>
        <p:spPr>
          <a:xfrm>
            <a:off x="8366760" y="3200400"/>
            <a:ext cx="548640" cy="548640"/>
          </a:xfrm>
          <a:custGeom>
            <a:avLst/>
            <a:gdLst/>
            <a:ahLst/>
            <a:cxnLst/>
            <a:rect l="l" t="t" r="r" b="b"/>
            <a:pathLst>
              <a:path w="548640" h="548640">
                <a:moveTo>
                  <a:pt x="142646" y="0"/>
                </a:moveTo>
                <a:lnTo>
                  <a:pt x="405994" y="0"/>
                </a:lnTo>
                <a:lnTo>
                  <a:pt x="548640" y="142646"/>
                </a:lnTo>
                <a:lnTo>
                  <a:pt x="548640" y="405994"/>
                </a:lnTo>
                <a:lnTo>
                  <a:pt x="405994" y="548640"/>
                </a:lnTo>
                <a:lnTo>
                  <a:pt x="142646" y="548640"/>
                </a:lnTo>
                <a:lnTo>
                  <a:pt x="0" y="405994"/>
                </a:lnTo>
                <a:lnTo>
                  <a:pt x="0" y="142646"/>
                </a:lnTo>
                <a:close/>
              </a:path>
            </a:pathLst>
          </a:custGeom>
          <a:solidFill>
            <a:schemeClr val="tx1">
              <a:alpha val="75000"/>
            </a:schemeClr>
          </a:solidFill>
          <a:ln w="19050">
            <a:solidFill>
              <a:srgbClr val="25F4EE"/>
            </a:solidFill>
            <a:prstDash val="solid"/>
          </a:ln>
        </p:spPr>
      </p:sp>
      <p:pic>
        <p:nvPicPr>
          <p:cNvPr id="17" name="Icon" descr="icon"/>
          <p:cNvPicPr>
            <a:picLocks noChangeAspect="1"/>
          </p:cNvPicPr>
          <p:nvPr/>
        </p:nvPicPr>
        <p:blipFill>
          <a:blip r:embed="rId5"/>
          <a:stretch>
            <a:fillRect/>
          </a:stretch>
        </p:blipFill>
        <p:spPr>
          <a:xfrm>
            <a:off x="8394466" y="3228106"/>
            <a:ext cx="493227" cy="493227"/>
          </a:xfrm>
          <a:prstGeom prst="rect">
            <a:avLst/>
          </a:prstGeom>
        </p:spPr>
      </p:pic>
      <p:sp>
        <p:nvSpPr>
          <p:cNvPr id="18" name="Text 13"/>
          <p:cNvSpPr txBox="1"/>
          <p:nvPr/>
        </p:nvSpPr>
        <p:spPr>
          <a:xfrm>
            <a:off x="9098280" y="3200400"/>
            <a:ext cx="2468880" cy="548640"/>
          </a:xfrm>
          <a:prstGeom prst="rect">
            <a:avLst/>
          </a:prstGeom>
          <a:noFill/>
          <a:ln/>
        </p:spPr>
        <p:txBody>
          <a:bodyPr wrap="square" lIns="0" tIns="0" rIns="0" bIns="0" rtlCol="0" anchor="ctr"/>
          <a:lstStyle/>
          <a:p>
            <a:pPr marL="0" indent="0">
              <a:buNone/>
            </a:pPr>
            <a:r>
              <a:rPr lang="en-US" sz="1800" b="1" dirty="0">
                <a:solidFill>
                  <a:schemeClr val="bg1"/>
                </a:solidFill>
              </a:rPr>
              <a:t>A clear second tier</a:t>
            </a:r>
            <a:endParaRPr lang="en-US" sz="1800" dirty="0"/>
          </a:p>
        </p:txBody>
      </p:sp>
      <p:sp>
        <p:nvSpPr>
          <p:cNvPr id="19" name="Text 14"/>
          <p:cNvSpPr txBox="1"/>
          <p:nvPr/>
        </p:nvSpPr>
        <p:spPr>
          <a:xfrm>
            <a:off x="8412480" y="3822192"/>
            <a:ext cx="3017520" cy="548640"/>
          </a:xfrm>
          <a:prstGeom prst="rect">
            <a:avLst/>
          </a:prstGeom>
          <a:noFill/>
          <a:ln/>
        </p:spPr>
        <p:txBody>
          <a:bodyPr wrap="square" lIns="0" tIns="0" rIns="0" bIns="0" rtlCol="0" anchor="t"/>
          <a:lstStyle/>
          <a:p>
            <a:pPr marL="0" indent="0">
              <a:buNone/>
            </a:pPr>
            <a:r>
              <a:rPr lang="en-US" sz="1400" dirty="0">
                <a:solidFill>
                  <a:schemeClr val="bg2"/>
                </a:solidFill>
              </a:rPr>
              <a:t>Gemini, Copilot and Claude each have roughly 30 to 40 users.</a:t>
            </a:r>
            <a:endParaRPr lang="en-US" sz="1400" dirty="0"/>
          </a:p>
        </p:txBody>
      </p:sp>
      <p:sp>
        <p:nvSpPr>
          <p:cNvPr id="20" name="Panel glow"/>
          <p:cNvSpPr/>
          <p:nvPr/>
        </p:nvSpPr>
        <p:spPr>
          <a:xfrm>
            <a:off x="8138160" y="4572000"/>
            <a:ext cx="3502152" cy="1463040"/>
          </a:xfrm>
          <a:custGeom>
            <a:avLst/>
            <a:gdLst/>
            <a:ahLst/>
            <a:cxnLst/>
            <a:rect l="l" t="t" r="r" b="b"/>
            <a:pathLst>
              <a:path w="3502152" h="1463040">
                <a:moveTo>
                  <a:pt x="0" y="0"/>
                </a:moveTo>
                <a:lnTo>
                  <a:pt x="3319272" y="0"/>
                </a:lnTo>
                <a:lnTo>
                  <a:pt x="3502152" y="182880"/>
                </a:lnTo>
                <a:lnTo>
                  <a:pt x="3502152" y="1463040"/>
                </a:lnTo>
                <a:lnTo>
                  <a:pt x="182880" y="1463040"/>
                </a:lnTo>
                <a:lnTo>
                  <a:pt x="0" y="1280160"/>
                </a:lnTo>
                <a:close/>
              </a:path>
            </a:pathLst>
          </a:custGeom>
          <a:ln w="63500">
            <a:solidFill>
              <a:srgbClr val="9B5CFF">
                <a:alpha val="14000"/>
              </a:srgbClr>
            </a:solidFill>
            <a:prstDash val="solid"/>
          </a:ln>
        </p:spPr>
      </p:sp>
      <p:sp>
        <p:nvSpPr>
          <p:cNvPr id="21" name="HUD panel"/>
          <p:cNvSpPr/>
          <p:nvPr/>
        </p:nvSpPr>
        <p:spPr>
          <a:xfrm>
            <a:off x="8138160" y="4572000"/>
            <a:ext cx="3502152" cy="1463040"/>
          </a:xfrm>
          <a:custGeom>
            <a:avLst/>
            <a:gdLst/>
            <a:ahLst/>
            <a:cxnLst/>
            <a:rect l="l" t="t" r="r" b="b"/>
            <a:pathLst>
              <a:path w="3502152" h="1463040">
                <a:moveTo>
                  <a:pt x="0" y="0"/>
                </a:moveTo>
                <a:lnTo>
                  <a:pt x="3319272" y="0"/>
                </a:lnTo>
                <a:lnTo>
                  <a:pt x="3502152" y="182880"/>
                </a:lnTo>
                <a:lnTo>
                  <a:pt x="3502152" y="1463040"/>
                </a:lnTo>
                <a:lnTo>
                  <a:pt x="182880" y="1463040"/>
                </a:lnTo>
                <a:lnTo>
                  <a:pt x="0" y="1280160"/>
                </a:lnTo>
                <a:close/>
              </a:path>
            </a:pathLst>
          </a:custGeom>
          <a:solidFill>
            <a:schemeClr val="tx2">
              <a:alpha val="88000"/>
            </a:schemeClr>
          </a:solidFill>
          <a:ln w="15875">
            <a:solidFill>
              <a:srgbClr val="9B5CFF">
                <a:alpha val="90000"/>
              </a:srgbClr>
            </a:solidFill>
            <a:prstDash val="solid"/>
          </a:ln>
        </p:spPr>
      </p:sp>
      <p:sp>
        <p:nvSpPr>
          <p:cNvPr id="22" name="Icon chip"/>
          <p:cNvSpPr/>
          <p:nvPr/>
        </p:nvSpPr>
        <p:spPr>
          <a:xfrm>
            <a:off x="8366760" y="4754880"/>
            <a:ext cx="548640" cy="548640"/>
          </a:xfrm>
          <a:custGeom>
            <a:avLst/>
            <a:gdLst/>
            <a:ahLst/>
            <a:cxnLst/>
            <a:rect l="l" t="t" r="r" b="b"/>
            <a:pathLst>
              <a:path w="548640" h="548640">
                <a:moveTo>
                  <a:pt x="142646" y="0"/>
                </a:moveTo>
                <a:lnTo>
                  <a:pt x="405994" y="0"/>
                </a:lnTo>
                <a:lnTo>
                  <a:pt x="548640" y="142646"/>
                </a:lnTo>
                <a:lnTo>
                  <a:pt x="548640" y="405994"/>
                </a:lnTo>
                <a:lnTo>
                  <a:pt x="405994" y="548640"/>
                </a:lnTo>
                <a:lnTo>
                  <a:pt x="142646" y="548640"/>
                </a:lnTo>
                <a:lnTo>
                  <a:pt x="0" y="405994"/>
                </a:lnTo>
                <a:lnTo>
                  <a:pt x="0" y="142646"/>
                </a:lnTo>
                <a:close/>
              </a:path>
            </a:pathLst>
          </a:custGeom>
          <a:solidFill>
            <a:schemeClr val="tx1">
              <a:alpha val="75000"/>
            </a:schemeClr>
          </a:solidFill>
          <a:ln w="19050">
            <a:solidFill>
              <a:srgbClr val="9B5CFF"/>
            </a:solidFill>
            <a:prstDash val="solid"/>
          </a:ln>
        </p:spPr>
      </p:sp>
      <p:pic>
        <p:nvPicPr>
          <p:cNvPr id="23" name="Icon" descr="icon"/>
          <p:cNvPicPr>
            <a:picLocks noChangeAspect="1"/>
          </p:cNvPicPr>
          <p:nvPr/>
        </p:nvPicPr>
        <p:blipFill>
          <a:blip r:embed="rId6"/>
          <a:stretch>
            <a:fillRect/>
          </a:stretch>
        </p:blipFill>
        <p:spPr>
          <a:xfrm>
            <a:off x="8394466" y="4782586"/>
            <a:ext cx="493227" cy="493227"/>
          </a:xfrm>
          <a:prstGeom prst="rect">
            <a:avLst/>
          </a:prstGeom>
        </p:spPr>
      </p:pic>
      <p:sp>
        <p:nvSpPr>
          <p:cNvPr id="24" name="Text 18"/>
          <p:cNvSpPr txBox="1"/>
          <p:nvPr/>
        </p:nvSpPr>
        <p:spPr>
          <a:xfrm>
            <a:off x="9098280" y="4754880"/>
            <a:ext cx="2468880" cy="548640"/>
          </a:xfrm>
          <a:prstGeom prst="rect">
            <a:avLst/>
          </a:prstGeom>
          <a:noFill/>
          <a:ln/>
        </p:spPr>
        <p:txBody>
          <a:bodyPr wrap="square" lIns="0" tIns="0" rIns="0" bIns="0" rtlCol="0" anchor="ctr"/>
          <a:lstStyle/>
          <a:p>
            <a:pPr marL="0" indent="0">
              <a:buNone/>
            </a:pPr>
            <a:r>
              <a:rPr lang="en-US" sz="1800" b="1" dirty="0">
                <a:solidFill>
                  <a:schemeClr val="bg1"/>
                </a:solidFill>
              </a:rPr>
              <a:t>A long tail</a:t>
            </a:r>
            <a:endParaRPr lang="en-US" sz="1800" dirty="0"/>
          </a:p>
        </p:txBody>
      </p:sp>
      <p:sp>
        <p:nvSpPr>
          <p:cNvPr id="25" name="Text 19"/>
          <p:cNvSpPr txBox="1"/>
          <p:nvPr/>
        </p:nvSpPr>
        <p:spPr>
          <a:xfrm>
            <a:off x="8412480" y="5376672"/>
            <a:ext cx="3017520" cy="548640"/>
          </a:xfrm>
          <a:prstGeom prst="rect">
            <a:avLst/>
          </a:prstGeom>
          <a:noFill/>
          <a:ln/>
        </p:spPr>
        <p:txBody>
          <a:bodyPr wrap="square" lIns="0" tIns="0" rIns="0" bIns="0" rtlCol="0" anchor="t"/>
          <a:lstStyle/>
          <a:p>
            <a:pPr marL="0" indent="0">
              <a:buNone/>
            </a:pPr>
            <a:r>
              <a:rPr lang="en-US" sz="1400" dirty="0">
                <a:solidFill>
                  <a:schemeClr val="bg2"/>
                </a:solidFill>
              </a:rPr>
              <a:t>Perplexity, Grammarly, DeepSeek, Meta AI and Copilot have 25 or fewer.</a:t>
            </a:r>
            <a:endParaRPr lang="en-US" sz="1400" dirty="0"/>
          </a:p>
        </p:txBody>
      </p:sp>
      <p:sp>
        <p:nvSpPr>
          <p:cNvPr id="26"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5F4EE"/>
                </a:solidFill>
                <a:latin typeface="Courier New"/>
                <a:ea typeface="Courier New"/>
                <a:cs typeface="Courier New"/>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300" dirty="0">
                <a:solidFill>
                  <a:srgbClr val="25F4EE"/>
                </a:solidFill>
                <a:latin typeface="Courier New" pitchFamily="34" charset="0"/>
                <a:ea typeface="Courier New" pitchFamily="34" charset="-122"/>
                <a:cs typeface="Courier New" pitchFamily="34" charset="-120"/>
              </a:rPr>
              <a:t>// 04  USE-CASES</a:t>
            </a:r>
            <a:endParaRPr lang="en-US" sz="1200" dirty="0"/>
          </a:p>
        </p:txBody>
      </p:sp>
      <p:sp>
        <p:nvSpPr>
          <p:cNvPr id="3" name="Text 1"/>
          <p:cNvSpPr>
            <a:spLocks noGrp="1"/>
          </p:cNvSpPr>
          <p:nvPr>
            <p:ph type="title" idx="101" hasCustomPrompt="1"/>
          </p:nvPr>
        </p:nvSpPr>
        <p:spPr>
          <a:xfrm>
            <a:off x="548640" y="530352"/>
            <a:ext cx="11064240" cy="777240"/>
          </a:xfrm>
          <a:prstGeom prst="rect">
            <a:avLst/>
          </a:prstGeom>
          <a:noFill/>
          <a:ln/>
        </p:spPr>
        <p:txBody>
          <a:bodyPr wrap="square" lIns="0" tIns="0" rIns="0" bIns="0" rtlCol="0" anchor="ctr"/>
          <a:lstStyle/>
          <a:p>
            <a:pPr marL="0" indent="0" algn="l">
              <a:buNone/>
            </a:pPr>
            <a:r>
              <a:rPr lang="en-US" sz="3400" b="1" dirty="0">
                <a:solidFill>
                  <a:schemeClr val="bg1"/>
                </a:solidFill>
              </a:rPr>
              <a:t>Why people use AI: eight main use-cases</a:t>
            </a:r>
            <a:endParaRPr lang="en-US" sz="3400" dirty="0"/>
          </a:p>
        </p:txBody>
      </p:sp>
      <p:sp>
        <p:nvSpPr>
          <p:cNvPr id="4" name="Panel glow"/>
          <p:cNvSpPr/>
          <p:nvPr/>
        </p:nvSpPr>
        <p:spPr>
          <a:xfrm>
            <a:off x="566928" y="146304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ln w="63500">
            <a:solidFill>
              <a:srgbClr val="9B5CFF">
                <a:alpha val="14000"/>
              </a:srgbClr>
            </a:solidFill>
            <a:prstDash val="solid"/>
          </a:ln>
        </p:spPr>
      </p:sp>
      <p:sp>
        <p:nvSpPr>
          <p:cNvPr id="5" name="HUD panel"/>
          <p:cNvSpPr/>
          <p:nvPr/>
        </p:nvSpPr>
        <p:spPr>
          <a:xfrm>
            <a:off x="566928" y="146304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solidFill>
            <a:schemeClr val="tx2">
              <a:alpha val="88000"/>
            </a:schemeClr>
          </a:solidFill>
          <a:ln w="15875">
            <a:solidFill>
              <a:srgbClr val="9B5CFF">
                <a:alpha val="90000"/>
              </a:srgbClr>
            </a:solidFill>
            <a:prstDash val="solid"/>
          </a:ln>
        </p:spPr>
      </p:sp>
      <p:sp>
        <p:nvSpPr>
          <p:cNvPr id="6" name="Icon chip"/>
          <p:cNvSpPr/>
          <p:nvPr/>
        </p:nvSpPr>
        <p:spPr>
          <a:xfrm>
            <a:off x="841248" y="1719072"/>
            <a:ext cx="658368" cy="658368"/>
          </a:xfrm>
          <a:custGeom>
            <a:avLst/>
            <a:gdLst/>
            <a:ahLst/>
            <a:cxnLst/>
            <a:rect l="l" t="t" r="r" b="b"/>
            <a:pathLst>
              <a:path w="658368" h="658368">
                <a:moveTo>
                  <a:pt x="171176" y="0"/>
                </a:moveTo>
                <a:lnTo>
                  <a:pt x="487192" y="0"/>
                </a:lnTo>
                <a:lnTo>
                  <a:pt x="658368" y="171176"/>
                </a:lnTo>
                <a:lnTo>
                  <a:pt x="658368" y="487192"/>
                </a:lnTo>
                <a:lnTo>
                  <a:pt x="487192" y="658368"/>
                </a:lnTo>
                <a:lnTo>
                  <a:pt x="171176" y="658368"/>
                </a:lnTo>
                <a:lnTo>
                  <a:pt x="0" y="487192"/>
                </a:lnTo>
                <a:lnTo>
                  <a:pt x="0" y="171176"/>
                </a:lnTo>
                <a:close/>
              </a:path>
            </a:pathLst>
          </a:custGeom>
          <a:solidFill>
            <a:schemeClr val="tx1">
              <a:alpha val="75000"/>
            </a:schemeClr>
          </a:solidFill>
          <a:ln w="19050">
            <a:solidFill>
              <a:srgbClr val="9B5CFF"/>
            </a:solidFill>
            <a:prstDash val="solid"/>
          </a:ln>
        </p:spPr>
      </p:sp>
      <p:pic>
        <p:nvPicPr>
          <p:cNvPr id="7" name="Icon" descr="icon"/>
          <p:cNvPicPr>
            <a:picLocks noChangeAspect="1"/>
          </p:cNvPicPr>
          <p:nvPr/>
        </p:nvPicPr>
        <p:blipFill>
          <a:blip r:embed="rId3"/>
          <a:stretch>
            <a:fillRect/>
          </a:stretch>
        </p:blipFill>
        <p:spPr>
          <a:xfrm>
            <a:off x="874496" y="1752320"/>
            <a:ext cx="591873" cy="591873"/>
          </a:xfrm>
          <a:prstGeom prst="rect">
            <a:avLst/>
          </a:prstGeom>
        </p:spPr>
      </p:pic>
      <p:sp>
        <p:nvSpPr>
          <p:cNvPr id="8" name="Text 5"/>
          <p:cNvSpPr txBox="1"/>
          <p:nvPr/>
        </p:nvSpPr>
        <p:spPr>
          <a:xfrm>
            <a:off x="841248" y="2487168"/>
            <a:ext cx="2194560" cy="365760"/>
          </a:xfrm>
          <a:prstGeom prst="rect">
            <a:avLst/>
          </a:prstGeom>
          <a:noFill/>
          <a:ln/>
        </p:spPr>
        <p:txBody>
          <a:bodyPr wrap="square" lIns="0" tIns="0" rIns="0" bIns="0" rtlCol="0" anchor="t"/>
          <a:lstStyle/>
          <a:p>
            <a:pPr marL="0" indent="0">
              <a:buNone/>
            </a:pPr>
            <a:r>
              <a:rPr lang="en-US" sz="1700" b="1" dirty="0">
                <a:solidFill>
                  <a:schemeClr val="bg1"/>
                </a:solidFill>
              </a:rPr>
              <a:t>Coding</a:t>
            </a:r>
            <a:endParaRPr lang="en-US" sz="1700" dirty="0"/>
          </a:p>
        </p:txBody>
      </p:sp>
      <p:sp>
        <p:nvSpPr>
          <p:cNvPr id="9" name="Text 6"/>
          <p:cNvSpPr txBox="1"/>
          <p:nvPr/>
        </p:nvSpPr>
        <p:spPr>
          <a:xfrm>
            <a:off x="841248" y="2816352"/>
            <a:ext cx="2194560" cy="320040"/>
          </a:xfrm>
          <a:prstGeom prst="rect">
            <a:avLst/>
          </a:prstGeom>
          <a:noFill/>
          <a:ln/>
        </p:spPr>
        <p:txBody>
          <a:bodyPr wrap="square" lIns="0" tIns="0" rIns="0" bIns="0" rtlCol="0" anchor="t"/>
          <a:lstStyle/>
          <a:p>
            <a:pPr marL="0" indent="0">
              <a:buNone/>
            </a:pPr>
            <a:r>
              <a:rPr lang="en-US" sz="1400" dirty="0">
                <a:solidFill>
                  <a:schemeClr val="bg2"/>
                </a:solidFill>
              </a:rPr>
              <a:t>Writing and fixing code</a:t>
            </a:r>
            <a:endParaRPr lang="en-US" sz="1400" dirty="0"/>
          </a:p>
        </p:txBody>
      </p:sp>
      <p:sp>
        <p:nvSpPr>
          <p:cNvPr id="10" name="Panel glow"/>
          <p:cNvSpPr/>
          <p:nvPr/>
        </p:nvSpPr>
        <p:spPr>
          <a:xfrm>
            <a:off x="3383280" y="146304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ln w="63500">
            <a:solidFill>
              <a:srgbClr val="25F4EE">
                <a:alpha val="14000"/>
              </a:srgbClr>
            </a:solidFill>
            <a:prstDash val="solid"/>
          </a:ln>
        </p:spPr>
      </p:sp>
      <p:sp>
        <p:nvSpPr>
          <p:cNvPr id="11" name="HUD panel"/>
          <p:cNvSpPr/>
          <p:nvPr/>
        </p:nvSpPr>
        <p:spPr>
          <a:xfrm>
            <a:off x="3383280" y="146304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solidFill>
            <a:schemeClr val="tx2">
              <a:alpha val="88000"/>
            </a:schemeClr>
          </a:solidFill>
          <a:ln w="15875">
            <a:solidFill>
              <a:srgbClr val="25F4EE">
                <a:alpha val="90000"/>
              </a:srgbClr>
            </a:solidFill>
            <a:prstDash val="solid"/>
          </a:ln>
        </p:spPr>
      </p:sp>
      <p:sp>
        <p:nvSpPr>
          <p:cNvPr id="12" name="Icon chip"/>
          <p:cNvSpPr/>
          <p:nvPr/>
        </p:nvSpPr>
        <p:spPr>
          <a:xfrm>
            <a:off x="3657600" y="1719072"/>
            <a:ext cx="658368" cy="658368"/>
          </a:xfrm>
          <a:custGeom>
            <a:avLst/>
            <a:gdLst/>
            <a:ahLst/>
            <a:cxnLst/>
            <a:rect l="l" t="t" r="r" b="b"/>
            <a:pathLst>
              <a:path w="658368" h="658368">
                <a:moveTo>
                  <a:pt x="171176" y="0"/>
                </a:moveTo>
                <a:lnTo>
                  <a:pt x="487192" y="0"/>
                </a:lnTo>
                <a:lnTo>
                  <a:pt x="658368" y="171176"/>
                </a:lnTo>
                <a:lnTo>
                  <a:pt x="658368" y="487192"/>
                </a:lnTo>
                <a:lnTo>
                  <a:pt x="487192" y="658368"/>
                </a:lnTo>
                <a:lnTo>
                  <a:pt x="171176" y="658368"/>
                </a:lnTo>
                <a:lnTo>
                  <a:pt x="0" y="487192"/>
                </a:lnTo>
                <a:lnTo>
                  <a:pt x="0" y="171176"/>
                </a:lnTo>
                <a:close/>
              </a:path>
            </a:pathLst>
          </a:custGeom>
          <a:solidFill>
            <a:schemeClr val="tx1">
              <a:alpha val="75000"/>
            </a:schemeClr>
          </a:solidFill>
          <a:ln w="19050">
            <a:solidFill>
              <a:srgbClr val="25F4EE"/>
            </a:solidFill>
            <a:prstDash val="solid"/>
          </a:ln>
        </p:spPr>
      </p:sp>
      <p:pic>
        <p:nvPicPr>
          <p:cNvPr id="13" name="Icon" descr="icon"/>
          <p:cNvPicPr>
            <a:picLocks noChangeAspect="1"/>
          </p:cNvPicPr>
          <p:nvPr/>
        </p:nvPicPr>
        <p:blipFill>
          <a:blip r:embed="rId4"/>
          <a:stretch>
            <a:fillRect/>
          </a:stretch>
        </p:blipFill>
        <p:spPr>
          <a:xfrm>
            <a:off x="3690848" y="1752320"/>
            <a:ext cx="591873" cy="591873"/>
          </a:xfrm>
          <a:prstGeom prst="rect">
            <a:avLst/>
          </a:prstGeom>
        </p:spPr>
      </p:pic>
      <p:sp>
        <p:nvSpPr>
          <p:cNvPr id="14" name="Text 10"/>
          <p:cNvSpPr txBox="1"/>
          <p:nvPr/>
        </p:nvSpPr>
        <p:spPr>
          <a:xfrm>
            <a:off x="3657600" y="2487168"/>
            <a:ext cx="2194560" cy="365760"/>
          </a:xfrm>
          <a:prstGeom prst="rect">
            <a:avLst/>
          </a:prstGeom>
          <a:noFill/>
          <a:ln/>
        </p:spPr>
        <p:txBody>
          <a:bodyPr wrap="square" lIns="0" tIns="0" rIns="0" bIns="0" rtlCol="0" anchor="t"/>
          <a:lstStyle/>
          <a:p>
            <a:pPr marL="0" indent="0">
              <a:buNone/>
            </a:pPr>
            <a:r>
              <a:rPr lang="en-US" sz="1700" b="1" dirty="0">
                <a:solidFill>
                  <a:schemeClr val="bg1"/>
                </a:solidFill>
              </a:rPr>
              <a:t>Content Creation</a:t>
            </a:r>
            <a:endParaRPr lang="en-US" sz="1700" dirty="0"/>
          </a:p>
        </p:txBody>
      </p:sp>
      <p:sp>
        <p:nvSpPr>
          <p:cNvPr id="15" name="Text 11"/>
          <p:cNvSpPr txBox="1"/>
          <p:nvPr/>
        </p:nvSpPr>
        <p:spPr>
          <a:xfrm>
            <a:off x="3657600" y="2816352"/>
            <a:ext cx="2194560" cy="320040"/>
          </a:xfrm>
          <a:prstGeom prst="rect">
            <a:avLst/>
          </a:prstGeom>
          <a:noFill/>
          <a:ln/>
        </p:spPr>
        <p:txBody>
          <a:bodyPr wrap="square" lIns="0" tIns="0" rIns="0" bIns="0" rtlCol="0" anchor="t"/>
          <a:lstStyle/>
          <a:p>
            <a:pPr marL="0" indent="0">
              <a:buNone/>
            </a:pPr>
            <a:r>
              <a:rPr lang="en-US" sz="1400" dirty="0">
                <a:solidFill>
                  <a:schemeClr val="bg2"/>
                </a:solidFill>
              </a:rPr>
              <a:t>Posts, media and ideas</a:t>
            </a:r>
            <a:endParaRPr lang="en-US" sz="1400" dirty="0"/>
          </a:p>
        </p:txBody>
      </p:sp>
      <p:sp>
        <p:nvSpPr>
          <p:cNvPr id="16" name="Panel glow"/>
          <p:cNvSpPr/>
          <p:nvPr/>
        </p:nvSpPr>
        <p:spPr>
          <a:xfrm>
            <a:off x="6199632" y="146304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ln w="63500">
            <a:solidFill>
              <a:srgbClr val="2F7BFF">
                <a:alpha val="14000"/>
              </a:srgbClr>
            </a:solidFill>
            <a:prstDash val="solid"/>
          </a:ln>
        </p:spPr>
      </p:sp>
      <p:sp>
        <p:nvSpPr>
          <p:cNvPr id="17" name="HUD panel"/>
          <p:cNvSpPr/>
          <p:nvPr/>
        </p:nvSpPr>
        <p:spPr>
          <a:xfrm>
            <a:off x="6199632" y="146304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solidFill>
            <a:schemeClr val="tx2">
              <a:alpha val="88000"/>
            </a:schemeClr>
          </a:solidFill>
          <a:ln w="15875">
            <a:solidFill>
              <a:srgbClr val="2F7BFF">
                <a:alpha val="90000"/>
              </a:srgbClr>
            </a:solidFill>
            <a:prstDash val="solid"/>
          </a:ln>
        </p:spPr>
      </p:sp>
      <p:sp>
        <p:nvSpPr>
          <p:cNvPr id="18" name="Icon chip"/>
          <p:cNvSpPr/>
          <p:nvPr/>
        </p:nvSpPr>
        <p:spPr>
          <a:xfrm>
            <a:off x="6473952" y="1719072"/>
            <a:ext cx="658368" cy="658368"/>
          </a:xfrm>
          <a:custGeom>
            <a:avLst/>
            <a:gdLst/>
            <a:ahLst/>
            <a:cxnLst/>
            <a:rect l="l" t="t" r="r" b="b"/>
            <a:pathLst>
              <a:path w="658368" h="658368">
                <a:moveTo>
                  <a:pt x="171176" y="0"/>
                </a:moveTo>
                <a:lnTo>
                  <a:pt x="487192" y="0"/>
                </a:lnTo>
                <a:lnTo>
                  <a:pt x="658368" y="171176"/>
                </a:lnTo>
                <a:lnTo>
                  <a:pt x="658368" y="487192"/>
                </a:lnTo>
                <a:lnTo>
                  <a:pt x="487192" y="658368"/>
                </a:lnTo>
                <a:lnTo>
                  <a:pt x="171176" y="658368"/>
                </a:lnTo>
                <a:lnTo>
                  <a:pt x="0" y="487192"/>
                </a:lnTo>
                <a:lnTo>
                  <a:pt x="0" y="171176"/>
                </a:lnTo>
                <a:close/>
              </a:path>
            </a:pathLst>
          </a:custGeom>
          <a:solidFill>
            <a:schemeClr val="tx1">
              <a:alpha val="75000"/>
            </a:schemeClr>
          </a:solidFill>
          <a:ln w="19050">
            <a:solidFill>
              <a:srgbClr val="2F7BFF"/>
            </a:solidFill>
            <a:prstDash val="solid"/>
          </a:ln>
        </p:spPr>
      </p:sp>
      <p:pic>
        <p:nvPicPr>
          <p:cNvPr id="19" name="Icon" descr="icon"/>
          <p:cNvPicPr>
            <a:picLocks noChangeAspect="1"/>
          </p:cNvPicPr>
          <p:nvPr/>
        </p:nvPicPr>
        <p:blipFill>
          <a:blip r:embed="rId5"/>
          <a:stretch>
            <a:fillRect/>
          </a:stretch>
        </p:blipFill>
        <p:spPr>
          <a:xfrm>
            <a:off x="6507200" y="1752320"/>
            <a:ext cx="591873" cy="591873"/>
          </a:xfrm>
          <a:prstGeom prst="rect">
            <a:avLst/>
          </a:prstGeom>
        </p:spPr>
      </p:pic>
      <p:sp>
        <p:nvSpPr>
          <p:cNvPr id="20" name="Text 15"/>
          <p:cNvSpPr txBox="1"/>
          <p:nvPr/>
        </p:nvSpPr>
        <p:spPr>
          <a:xfrm>
            <a:off x="6473952" y="2487168"/>
            <a:ext cx="2194560" cy="365760"/>
          </a:xfrm>
          <a:prstGeom prst="rect">
            <a:avLst/>
          </a:prstGeom>
          <a:noFill/>
          <a:ln/>
        </p:spPr>
        <p:txBody>
          <a:bodyPr wrap="square" lIns="0" tIns="0" rIns="0" bIns="0" rtlCol="0" anchor="t"/>
          <a:lstStyle/>
          <a:p>
            <a:pPr marL="0" indent="0">
              <a:buNone/>
            </a:pPr>
            <a:r>
              <a:rPr lang="en-US" sz="1700" b="1" dirty="0">
                <a:solidFill>
                  <a:schemeClr val="bg1"/>
                </a:solidFill>
              </a:rPr>
              <a:t>Customer Support</a:t>
            </a:r>
            <a:endParaRPr lang="en-US" sz="1700" dirty="0"/>
          </a:p>
        </p:txBody>
      </p:sp>
      <p:sp>
        <p:nvSpPr>
          <p:cNvPr id="21" name="Text 16"/>
          <p:cNvSpPr txBox="1"/>
          <p:nvPr/>
        </p:nvSpPr>
        <p:spPr>
          <a:xfrm>
            <a:off x="6473952" y="2816352"/>
            <a:ext cx="2194560" cy="320040"/>
          </a:xfrm>
          <a:prstGeom prst="rect">
            <a:avLst/>
          </a:prstGeom>
          <a:noFill/>
          <a:ln/>
        </p:spPr>
        <p:txBody>
          <a:bodyPr wrap="square" lIns="0" tIns="0" rIns="0" bIns="0" rtlCol="0" anchor="t"/>
          <a:lstStyle/>
          <a:p>
            <a:pPr marL="0" indent="0">
              <a:buNone/>
            </a:pPr>
            <a:r>
              <a:rPr lang="en-US" sz="1400" dirty="0">
                <a:solidFill>
                  <a:schemeClr val="bg2"/>
                </a:solidFill>
              </a:rPr>
              <a:t>Replies and helpdesk</a:t>
            </a:r>
            <a:endParaRPr lang="en-US" sz="1400" dirty="0"/>
          </a:p>
        </p:txBody>
      </p:sp>
      <p:sp>
        <p:nvSpPr>
          <p:cNvPr id="22" name="Panel glow"/>
          <p:cNvSpPr/>
          <p:nvPr/>
        </p:nvSpPr>
        <p:spPr>
          <a:xfrm>
            <a:off x="9015984" y="146304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ln w="63500">
            <a:solidFill>
              <a:srgbClr val="FF7A59">
                <a:alpha val="14000"/>
              </a:srgbClr>
            </a:solidFill>
            <a:prstDash val="solid"/>
          </a:ln>
        </p:spPr>
      </p:sp>
      <p:sp>
        <p:nvSpPr>
          <p:cNvPr id="23" name="HUD panel"/>
          <p:cNvSpPr/>
          <p:nvPr/>
        </p:nvSpPr>
        <p:spPr>
          <a:xfrm>
            <a:off x="9015984" y="146304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solidFill>
            <a:schemeClr val="tx2">
              <a:alpha val="88000"/>
            </a:schemeClr>
          </a:solidFill>
          <a:ln w="15875">
            <a:solidFill>
              <a:srgbClr val="FF7A59">
                <a:alpha val="90000"/>
              </a:srgbClr>
            </a:solidFill>
            <a:prstDash val="solid"/>
          </a:ln>
        </p:spPr>
      </p:sp>
      <p:sp>
        <p:nvSpPr>
          <p:cNvPr id="24" name="Icon chip"/>
          <p:cNvSpPr/>
          <p:nvPr/>
        </p:nvSpPr>
        <p:spPr>
          <a:xfrm>
            <a:off x="9290304" y="1719072"/>
            <a:ext cx="658368" cy="658368"/>
          </a:xfrm>
          <a:custGeom>
            <a:avLst/>
            <a:gdLst/>
            <a:ahLst/>
            <a:cxnLst/>
            <a:rect l="l" t="t" r="r" b="b"/>
            <a:pathLst>
              <a:path w="658368" h="658368">
                <a:moveTo>
                  <a:pt x="171176" y="0"/>
                </a:moveTo>
                <a:lnTo>
                  <a:pt x="487192" y="0"/>
                </a:lnTo>
                <a:lnTo>
                  <a:pt x="658368" y="171176"/>
                </a:lnTo>
                <a:lnTo>
                  <a:pt x="658368" y="487192"/>
                </a:lnTo>
                <a:lnTo>
                  <a:pt x="487192" y="658368"/>
                </a:lnTo>
                <a:lnTo>
                  <a:pt x="171176" y="658368"/>
                </a:lnTo>
                <a:lnTo>
                  <a:pt x="0" y="487192"/>
                </a:lnTo>
                <a:lnTo>
                  <a:pt x="0" y="171176"/>
                </a:lnTo>
                <a:close/>
              </a:path>
            </a:pathLst>
          </a:custGeom>
          <a:solidFill>
            <a:schemeClr val="tx1">
              <a:alpha val="75000"/>
            </a:schemeClr>
          </a:solidFill>
          <a:ln w="19050">
            <a:solidFill>
              <a:srgbClr val="FF7A59"/>
            </a:solidFill>
            <a:prstDash val="solid"/>
          </a:ln>
        </p:spPr>
      </p:sp>
      <p:pic>
        <p:nvPicPr>
          <p:cNvPr id="25" name="Icon" descr="icon"/>
          <p:cNvPicPr>
            <a:picLocks noChangeAspect="1"/>
          </p:cNvPicPr>
          <p:nvPr/>
        </p:nvPicPr>
        <p:blipFill>
          <a:blip r:embed="rId6"/>
          <a:stretch>
            <a:fillRect/>
          </a:stretch>
        </p:blipFill>
        <p:spPr>
          <a:xfrm>
            <a:off x="9323552" y="1752320"/>
            <a:ext cx="591873" cy="591873"/>
          </a:xfrm>
          <a:prstGeom prst="rect">
            <a:avLst/>
          </a:prstGeom>
        </p:spPr>
      </p:pic>
      <p:sp>
        <p:nvSpPr>
          <p:cNvPr id="26" name="Text 20"/>
          <p:cNvSpPr txBox="1"/>
          <p:nvPr/>
        </p:nvSpPr>
        <p:spPr>
          <a:xfrm>
            <a:off x="9290304" y="2487168"/>
            <a:ext cx="2194560" cy="365760"/>
          </a:xfrm>
          <a:prstGeom prst="rect">
            <a:avLst/>
          </a:prstGeom>
          <a:noFill/>
          <a:ln/>
        </p:spPr>
        <p:txBody>
          <a:bodyPr wrap="square" lIns="0" tIns="0" rIns="0" bIns="0" rtlCol="0" anchor="t"/>
          <a:lstStyle/>
          <a:p>
            <a:pPr marL="0" indent="0">
              <a:buNone/>
            </a:pPr>
            <a:r>
              <a:rPr lang="en-US" sz="1700" b="1" dirty="0">
                <a:solidFill>
                  <a:schemeClr val="bg1"/>
                </a:solidFill>
              </a:rPr>
              <a:t>Data Analysis</a:t>
            </a:r>
            <a:endParaRPr lang="en-US" sz="1700" dirty="0"/>
          </a:p>
        </p:txBody>
      </p:sp>
      <p:sp>
        <p:nvSpPr>
          <p:cNvPr id="27" name="Text 21"/>
          <p:cNvSpPr txBox="1"/>
          <p:nvPr/>
        </p:nvSpPr>
        <p:spPr>
          <a:xfrm>
            <a:off x="9290304" y="2816352"/>
            <a:ext cx="2194560" cy="320040"/>
          </a:xfrm>
          <a:prstGeom prst="rect">
            <a:avLst/>
          </a:prstGeom>
          <a:noFill/>
          <a:ln/>
        </p:spPr>
        <p:txBody>
          <a:bodyPr wrap="square" lIns="0" tIns="0" rIns="0" bIns="0" rtlCol="0" anchor="t"/>
          <a:lstStyle/>
          <a:p>
            <a:pPr marL="0" indent="0">
              <a:buNone/>
            </a:pPr>
            <a:r>
              <a:rPr lang="en-US" sz="1400" dirty="0">
                <a:solidFill>
                  <a:schemeClr val="bg2"/>
                </a:solidFill>
              </a:rPr>
              <a:t>Insights from data</a:t>
            </a:r>
            <a:endParaRPr lang="en-US" sz="1400" dirty="0"/>
          </a:p>
        </p:txBody>
      </p:sp>
      <p:sp>
        <p:nvSpPr>
          <p:cNvPr id="28" name="Panel glow"/>
          <p:cNvSpPr/>
          <p:nvPr/>
        </p:nvSpPr>
        <p:spPr>
          <a:xfrm>
            <a:off x="566928" y="342900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ln w="63500">
            <a:solidFill>
              <a:srgbClr val="FF4D6D">
                <a:alpha val="14000"/>
              </a:srgbClr>
            </a:solidFill>
            <a:prstDash val="solid"/>
          </a:ln>
        </p:spPr>
      </p:sp>
      <p:sp>
        <p:nvSpPr>
          <p:cNvPr id="29" name="HUD panel"/>
          <p:cNvSpPr/>
          <p:nvPr/>
        </p:nvSpPr>
        <p:spPr>
          <a:xfrm>
            <a:off x="566928" y="342900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solidFill>
            <a:schemeClr val="tx2">
              <a:alpha val="88000"/>
            </a:schemeClr>
          </a:solidFill>
          <a:ln w="15875">
            <a:solidFill>
              <a:srgbClr val="FF4D6D">
                <a:alpha val="90000"/>
              </a:srgbClr>
            </a:solidFill>
            <a:prstDash val="solid"/>
          </a:ln>
        </p:spPr>
      </p:sp>
      <p:sp>
        <p:nvSpPr>
          <p:cNvPr id="30" name="Icon chip"/>
          <p:cNvSpPr/>
          <p:nvPr/>
        </p:nvSpPr>
        <p:spPr>
          <a:xfrm>
            <a:off x="841248" y="3685032"/>
            <a:ext cx="658368" cy="658368"/>
          </a:xfrm>
          <a:custGeom>
            <a:avLst/>
            <a:gdLst/>
            <a:ahLst/>
            <a:cxnLst/>
            <a:rect l="l" t="t" r="r" b="b"/>
            <a:pathLst>
              <a:path w="658368" h="658368">
                <a:moveTo>
                  <a:pt x="171176" y="0"/>
                </a:moveTo>
                <a:lnTo>
                  <a:pt x="487192" y="0"/>
                </a:lnTo>
                <a:lnTo>
                  <a:pt x="658368" y="171176"/>
                </a:lnTo>
                <a:lnTo>
                  <a:pt x="658368" y="487192"/>
                </a:lnTo>
                <a:lnTo>
                  <a:pt x="487192" y="658368"/>
                </a:lnTo>
                <a:lnTo>
                  <a:pt x="171176" y="658368"/>
                </a:lnTo>
                <a:lnTo>
                  <a:pt x="0" y="487192"/>
                </a:lnTo>
                <a:lnTo>
                  <a:pt x="0" y="171176"/>
                </a:lnTo>
                <a:close/>
              </a:path>
            </a:pathLst>
          </a:custGeom>
          <a:solidFill>
            <a:schemeClr val="tx1">
              <a:alpha val="75000"/>
            </a:schemeClr>
          </a:solidFill>
          <a:ln w="19050">
            <a:solidFill>
              <a:srgbClr val="FF4D6D"/>
            </a:solidFill>
            <a:prstDash val="solid"/>
          </a:ln>
        </p:spPr>
      </p:sp>
      <p:pic>
        <p:nvPicPr>
          <p:cNvPr id="31" name="Icon" descr="icon"/>
          <p:cNvPicPr>
            <a:picLocks noChangeAspect="1"/>
          </p:cNvPicPr>
          <p:nvPr/>
        </p:nvPicPr>
        <p:blipFill>
          <a:blip r:embed="rId7"/>
          <a:stretch>
            <a:fillRect/>
          </a:stretch>
        </p:blipFill>
        <p:spPr>
          <a:xfrm>
            <a:off x="874496" y="3718280"/>
            <a:ext cx="591873" cy="591873"/>
          </a:xfrm>
          <a:prstGeom prst="rect">
            <a:avLst/>
          </a:prstGeom>
        </p:spPr>
      </p:pic>
      <p:sp>
        <p:nvSpPr>
          <p:cNvPr id="32" name="Text 25"/>
          <p:cNvSpPr txBox="1"/>
          <p:nvPr/>
        </p:nvSpPr>
        <p:spPr>
          <a:xfrm>
            <a:off x="841248" y="4453128"/>
            <a:ext cx="2194560" cy="365760"/>
          </a:xfrm>
          <a:prstGeom prst="rect">
            <a:avLst/>
          </a:prstGeom>
          <a:noFill/>
          <a:ln/>
        </p:spPr>
        <p:txBody>
          <a:bodyPr wrap="square" lIns="0" tIns="0" rIns="0" bIns="0" rtlCol="0" anchor="t"/>
          <a:lstStyle/>
          <a:p>
            <a:pPr marL="0" indent="0">
              <a:buNone/>
            </a:pPr>
            <a:r>
              <a:rPr lang="en-US" sz="1700" b="1" dirty="0">
                <a:solidFill>
                  <a:schemeClr val="bg1"/>
                </a:solidFill>
              </a:rPr>
              <a:t>Office Work</a:t>
            </a:r>
            <a:endParaRPr lang="en-US" sz="1700" dirty="0"/>
          </a:p>
        </p:txBody>
      </p:sp>
      <p:sp>
        <p:nvSpPr>
          <p:cNvPr id="33" name="Text 26"/>
          <p:cNvSpPr txBox="1"/>
          <p:nvPr/>
        </p:nvSpPr>
        <p:spPr>
          <a:xfrm>
            <a:off x="841248" y="4782312"/>
            <a:ext cx="2194560" cy="320040"/>
          </a:xfrm>
          <a:prstGeom prst="rect">
            <a:avLst/>
          </a:prstGeom>
          <a:noFill/>
          <a:ln/>
        </p:spPr>
        <p:txBody>
          <a:bodyPr wrap="square" lIns="0" tIns="0" rIns="0" bIns="0" rtlCol="0" anchor="t"/>
          <a:lstStyle/>
          <a:p>
            <a:pPr marL="0" indent="0">
              <a:buNone/>
            </a:pPr>
            <a:r>
              <a:rPr lang="en-US" sz="1400" dirty="0">
                <a:solidFill>
                  <a:schemeClr val="bg2"/>
                </a:solidFill>
              </a:rPr>
              <a:t>Emails, docs and admin</a:t>
            </a:r>
            <a:endParaRPr lang="en-US" sz="1400" dirty="0"/>
          </a:p>
        </p:txBody>
      </p:sp>
      <p:sp>
        <p:nvSpPr>
          <p:cNvPr id="34" name="Panel glow"/>
          <p:cNvSpPr/>
          <p:nvPr/>
        </p:nvSpPr>
        <p:spPr>
          <a:xfrm>
            <a:off x="3383280" y="342900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ln w="63500">
            <a:solidFill>
              <a:srgbClr val="C77DFF">
                <a:alpha val="14000"/>
              </a:srgbClr>
            </a:solidFill>
            <a:prstDash val="solid"/>
          </a:ln>
        </p:spPr>
      </p:sp>
      <p:sp>
        <p:nvSpPr>
          <p:cNvPr id="35" name="HUD panel"/>
          <p:cNvSpPr/>
          <p:nvPr/>
        </p:nvSpPr>
        <p:spPr>
          <a:xfrm>
            <a:off x="3383280" y="342900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solidFill>
            <a:schemeClr val="tx2">
              <a:alpha val="88000"/>
            </a:schemeClr>
          </a:solidFill>
          <a:ln w="15875">
            <a:solidFill>
              <a:srgbClr val="C77DFF">
                <a:alpha val="90000"/>
              </a:srgbClr>
            </a:solidFill>
            <a:prstDash val="solid"/>
          </a:ln>
        </p:spPr>
      </p:sp>
      <p:sp>
        <p:nvSpPr>
          <p:cNvPr id="36" name="Icon chip"/>
          <p:cNvSpPr/>
          <p:nvPr/>
        </p:nvSpPr>
        <p:spPr>
          <a:xfrm>
            <a:off x="3657600" y="3685032"/>
            <a:ext cx="658368" cy="658368"/>
          </a:xfrm>
          <a:custGeom>
            <a:avLst/>
            <a:gdLst/>
            <a:ahLst/>
            <a:cxnLst/>
            <a:rect l="l" t="t" r="r" b="b"/>
            <a:pathLst>
              <a:path w="658368" h="658368">
                <a:moveTo>
                  <a:pt x="171176" y="0"/>
                </a:moveTo>
                <a:lnTo>
                  <a:pt x="487192" y="0"/>
                </a:lnTo>
                <a:lnTo>
                  <a:pt x="658368" y="171176"/>
                </a:lnTo>
                <a:lnTo>
                  <a:pt x="658368" y="487192"/>
                </a:lnTo>
                <a:lnTo>
                  <a:pt x="487192" y="658368"/>
                </a:lnTo>
                <a:lnTo>
                  <a:pt x="171176" y="658368"/>
                </a:lnTo>
                <a:lnTo>
                  <a:pt x="0" y="487192"/>
                </a:lnTo>
                <a:lnTo>
                  <a:pt x="0" y="171176"/>
                </a:lnTo>
                <a:close/>
              </a:path>
            </a:pathLst>
          </a:custGeom>
          <a:solidFill>
            <a:schemeClr val="tx1">
              <a:alpha val="75000"/>
            </a:schemeClr>
          </a:solidFill>
          <a:ln w="19050">
            <a:solidFill>
              <a:srgbClr val="C77DFF"/>
            </a:solidFill>
            <a:prstDash val="solid"/>
          </a:ln>
        </p:spPr>
      </p:sp>
      <p:pic>
        <p:nvPicPr>
          <p:cNvPr id="37" name="Icon" descr="icon"/>
          <p:cNvPicPr>
            <a:picLocks noChangeAspect="1"/>
          </p:cNvPicPr>
          <p:nvPr/>
        </p:nvPicPr>
        <p:blipFill>
          <a:blip r:embed="rId8"/>
          <a:stretch>
            <a:fillRect/>
          </a:stretch>
        </p:blipFill>
        <p:spPr>
          <a:xfrm>
            <a:off x="3690848" y="3718280"/>
            <a:ext cx="591873" cy="591873"/>
          </a:xfrm>
          <a:prstGeom prst="rect">
            <a:avLst/>
          </a:prstGeom>
        </p:spPr>
      </p:pic>
      <p:sp>
        <p:nvSpPr>
          <p:cNvPr id="38" name="Text 30"/>
          <p:cNvSpPr txBox="1"/>
          <p:nvPr/>
        </p:nvSpPr>
        <p:spPr>
          <a:xfrm>
            <a:off x="3657600" y="4453128"/>
            <a:ext cx="2194560" cy="365760"/>
          </a:xfrm>
          <a:prstGeom prst="rect">
            <a:avLst/>
          </a:prstGeom>
          <a:noFill/>
          <a:ln/>
        </p:spPr>
        <p:txBody>
          <a:bodyPr wrap="square" lIns="0" tIns="0" rIns="0" bIns="0" rtlCol="0" anchor="t"/>
          <a:lstStyle/>
          <a:p>
            <a:pPr marL="0" indent="0">
              <a:buNone/>
            </a:pPr>
            <a:r>
              <a:rPr lang="en-US" sz="1700" b="1" dirty="0">
                <a:solidFill>
                  <a:schemeClr val="bg1"/>
                </a:solidFill>
              </a:rPr>
              <a:t>Research</a:t>
            </a:r>
            <a:endParaRPr lang="en-US" sz="1700" dirty="0"/>
          </a:p>
        </p:txBody>
      </p:sp>
      <p:sp>
        <p:nvSpPr>
          <p:cNvPr id="39" name="Text 31"/>
          <p:cNvSpPr txBox="1"/>
          <p:nvPr/>
        </p:nvSpPr>
        <p:spPr>
          <a:xfrm>
            <a:off x="3657600" y="4782312"/>
            <a:ext cx="2194560" cy="320040"/>
          </a:xfrm>
          <a:prstGeom prst="rect">
            <a:avLst/>
          </a:prstGeom>
          <a:noFill/>
          <a:ln/>
        </p:spPr>
        <p:txBody>
          <a:bodyPr wrap="square" lIns="0" tIns="0" rIns="0" bIns="0" rtlCol="0" anchor="t"/>
          <a:lstStyle/>
          <a:p>
            <a:pPr marL="0" indent="0">
              <a:buNone/>
            </a:pPr>
            <a:r>
              <a:rPr lang="en-US" sz="1400" dirty="0">
                <a:solidFill>
                  <a:schemeClr val="bg2"/>
                </a:solidFill>
              </a:rPr>
              <a:t>Finding and summarising</a:t>
            </a:r>
            <a:endParaRPr lang="en-US" sz="1400" dirty="0"/>
          </a:p>
        </p:txBody>
      </p:sp>
      <p:sp>
        <p:nvSpPr>
          <p:cNvPr id="40" name="Panel glow"/>
          <p:cNvSpPr/>
          <p:nvPr/>
        </p:nvSpPr>
        <p:spPr>
          <a:xfrm>
            <a:off x="6199632" y="342900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ln w="63500">
            <a:solidFill>
              <a:srgbClr val="FF2E93">
                <a:alpha val="14000"/>
              </a:srgbClr>
            </a:solidFill>
            <a:prstDash val="solid"/>
          </a:ln>
        </p:spPr>
      </p:sp>
      <p:sp>
        <p:nvSpPr>
          <p:cNvPr id="41" name="HUD panel"/>
          <p:cNvSpPr/>
          <p:nvPr/>
        </p:nvSpPr>
        <p:spPr>
          <a:xfrm>
            <a:off x="6199632" y="342900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solidFill>
            <a:schemeClr val="tx2">
              <a:alpha val="88000"/>
            </a:schemeClr>
          </a:solidFill>
          <a:ln w="15875">
            <a:solidFill>
              <a:srgbClr val="FF2E93">
                <a:alpha val="90000"/>
              </a:srgbClr>
            </a:solidFill>
            <a:prstDash val="solid"/>
          </a:ln>
        </p:spPr>
      </p:sp>
      <p:sp>
        <p:nvSpPr>
          <p:cNvPr id="42" name="Icon chip"/>
          <p:cNvSpPr/>
          <p:nvPr/>
        </p:nvSpPr>
        <p:spPr>
          <a:xfrm>
            <a:off x="6473952" y="3685032"/>
            <a:ext cx="658368" cy="658368"/>
          </a:xfrm>
          <a:custGeom>
            <a:avLst/>
            <a:gdLst/>
            <a:ahLst/>
            <a:cxnLst/>
            <a:rect l="l" t="t" r="r" b="b"/>
            <a:pathLst>
              <a:path w="658368" h="658368">
                <a:moveTo>
                  <a:pt x="171176" y="0"/>
                </a:moveTo>
                <a:lnTo>
                  <a:pt x="487192" y="0"/>
                </a:lnTo>
                <a:lnTo>
                  <a:pt x="658368" y="171176"/>
                </a:lnTo>
                <a:lnTo>
                  <a:pt x="658368" y="487192"/>
                </a:lnTo>
                <a:lnTo>
                  <a:pt x="487192" y="658368"/>
                </a:lnTo>
                <a:lnTo>
                  <a:pt x="171176" y="658368"/>
                </a:lnTo>
                <a:lnTo>
                  <a:pt x="0" y="487192"/>
                </a:lnTo>
                <a:lnTo>
                  <a:pt x="0" y="171176"/>
                </a:lnTo>
                <a:close/>
              </a:path>
            </a:pathLst>
          </a:custGeom>
          <a:solidFill>
            <a:schemeClr val="tx1">
              <a:alpha val="75000"/>
            </a:schemeClr>
          </a:solidFill>
          <a:ln w="19050">
            <a:solidFill>
              <a:srgbClr val="FF2E93"/>
            </a:solidFill>
            <a:prstDash val="solid"/>
          </a:ln>
        </p:spPr>
      </p:sp>
      <p:pic>
        <p:nvPicPr>
          <p:cNvPr id="43" name="Icon" descr="icon"/>
          <p:cNvPicPr>
            <a:picLocks noChangeAspect="1"/>
          </p:cNvPicPr>
          <p:nvPr/>
        </p:nvPicPr>
        <p:blipFill>
          <a:blip r:embed="rId9"/>
          <a:stretch>
            <a:fillRect/>
          </a:stretch>
        </p:blipFill>
        <p:spPr>
          <a:xfrm>
            <a:off x="6507200" y="3718280"/>
            <a:ext cx="591873" cy="591873"/>
          </a:xfrm>
          <a:prstGeom prst="rect">
            <a:avLst/>
          </a:prstGeom>
        </p:spPr>
      </p:pic>
      <p:sp>
        <p:nvSpPr>
          <p:cNvPr id="44" name="Text 35"/>
          <p:cNvSpPr txBox="1"/>
          <p:nvPr/>
        </p:nvSpPr>
        <p:spPr>
          <a:xfrm>
            <a:off x="6473952" y="4453128"/>
            <a:ext cx="2194560" cy="365760"/>
          </a:xfrm>
          <a:prstGeom prst="rect">
            <a:avLst/>
          </a:prstGeom>
          <a:noFill/>
          <a:ln/>
        </p:spPr>
        <p:txBody>
          <a:bodyPr wrap="square" lIns="0" tIns="0" rIns="0" bIns="0" rtlCol="0" anchor="t"/>
          <a:lstStyle/>
          <a:p>
            <a:pPr marL="0" indent="0">
              <a:buNone/>
            </a:pPr>
            <a:r>
              <a:rPr lang="en-US" sz="1700" b="1" dirty="0">
                <a:solidFill>
                  <a:schemeClr val="bg1"/>
                </a:solidFill>
              </a:rPr>
              <a:t>Studying</a:t>
            </a:r>
            <a:endParaRPr lang="en-US" sz="1700" dirty="0"/>
          </a:p>
        </p:txBody>
      </p:sp>
      <p:sp>
        <p:nvSpPr>
          <p:cNvPr id="45" name="Text 36"/>
          <p:cNvSpPr txBox="1"/>
          <p:nvPr/>
        </p:nvSpPr>
        <p:spPr>
          <a:xfrm>
            <a:off x="6473952" y="4782312"/>
            <a:ext cx="2194560" cy="320040"/>
          </a:xfrm>
          <a:prstGeom prst="rect">
            <a:avLst/>
          </a:prstGeom>
          <a:noFill/>
          <a:ln/>
        </p:spPr>
        <p:txBody>
          <a:bodyPr wrap="square" lIns="0" tIns="0" rIns="0" bIns="0" rtlCol="0" anchor="t"/>
          <a:lstStyle/>
          <a:p>
            <a:pPr marL="0" indent="0">
              <a:buNone/>
            </a:pPr>
            <a:r>
              <a:rPr lang="en-US" sz="1400" dirty="0">
                <a:solidFill>
                  <a:schemeClr val="bg2"/>
                </a:solidFill>
              </a:rPr>
              <a:t>Learning and revision</a:t>
            </a:r>
            <a:endParaRPr lang="en-US" sz="1400" dirty="0"/>
          </a:p>
        </p:txBody>
      </p:sp>
      <p:sp>
        <p:nvSpPr>
          <p:cNvPr id="46" name="Panel glow"/>
          <p:cNvSpPr/>
          <p:nvPr/>
        </p:nvSpPr>
        <p:spPr>
          <a:xfrm>
            <a:off x="9015984" y="342900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ln w="63500">
            <a:solidFill>
              <a:srgbClr val="F06AC0">
                <a:alpha val="14000"/>
              </a:srgbClr>
            </a:solidFill>
            <a:prstDash val="solid"/>
          </a:ln>
        </p:spPr>
      </p:sp>
      <p:sp>
        <p:nvSpPr>
          <p:cNvPr id="47" name="HUD panel"/>
          <p:cNvSpPr/>
          <p:nvPr/>
        </p:nvSpPr>
        <p:spPr>
          <a:xfrm>
            <a:off x="9015984" y="3429000"/>
            <a:ext cx="2606040" cy="1737360"/>
          </a:xfrm>
          <a:custGeom>
            <a:avLst/>
            <a:gdLst/>
            <a:ahLst/>
            <a:cxnLst/>
            <a:rect l="l" t="t" r="r" b="b"/>
            <a:pathLst>
              <a:path w="2606040" h="1737360">
                <a:moveTo>
                  <a:pt x="0" y="0"/>
                </a:moveTo>
                <a:lnTo>
                  <a:pt x="2423160" y="0"/>
                </a:lnTo>
                <a:lnTo>
                  <a:pt x="2606040" y="182880"/>
                </a:lnTo>
                <a:lnTo>
                  <a:pt x="2606040" y="1737360"/>
                </a:lnTo>
                <a:lnTo>
                  <a:pt x="182880" y="1737360"/>
                </a:lnTo>
                <a:lnTo>
                  <a:pt x="0" y="1554480"/>
                </a:lnTo>
                <a:close/>
              </a:path>
            </a:pathLst>
          </a:custGeom>
          <a:solidFill>
            <a:schemeClr val="tx2">
              <a:alpha val="88000"/>
            </a:schemeClr>
          </a:solidFill>
          <a:ln w="15875">
            <a:solidFill>
              <a:srgbClr val="F06AC0">
                <a:alpha val="90000"/>
              </a:srgbClr>
            </a:solidFill>
            <a:prstDash val="solid"/>
          </a:ln>
        </p:spPr>
      </p:sp>
      <p:sp>
        <p:nvSpPr>
          <p:cNvPr id="48" name="Icon chip"/>
          <p:cNvSpPr/>
          <p:nvPr/>
        </p:nvSpPr>
        <p:spPr>
          <a:xfrm>
            <a:off x="9290304" y="3685032"/>
            <a:ext cx="658368" cy="658368"/>
          </a:xfrm>
          <a:custGeom>
            <a:avLst/>
            <a:gdLst/>
            <a:ahLst/>
            <a:cxnLst/>
            <a:rect l="l" t="t" r="r" b="b"/>
            <a:pathLst>
              <a:path w="658368" h="658368">
                <a:moveTo>
                  <a:pt x="171176" y="0"/>
                </a:moveTo>
                <a:lnTo>
                  <a:pt x="487192" y="0"/>
                </a:lnTo>
                <a:lnTo>
                  <a:pt x="658368" y="171176"/>
                </a:lnTo>
                <a:lnTo>
                  <a:pt x="658368" y="487192"/>
                </a:lnTo>
                <a:lnTo>
                  <a:pt x="487192" y="658368"/>
                </a:lnTo>
                <a:lnTo>
                  <a:pt x="171176" y="658368"/>
                </a:lnTo>
                <a:lnTo>
                  <a:pt x="0" y="487192"/>
                </a:lnTo>
                <a:lnTo>
                  <a:pt x="0" y="171176"/>
                </a:lnTo>
                <a:close/>
              </a:path>
            </a:pathLst>
          </a:custGeom>
          <a:solidFill>
            <a:schemeClr val="tx1">
              <a:alpha val="75000"/>
            </a:schemeClr>
          </a:solidFill>
          <a:ln w="19050">
            <a:solidFill>
              <a:srgbClr val="F06AC0"/>
            </a:solidFill>
            <a:prstDash val="solid"/>
          </a:ln>
        </p:spPr>
      </p:sp>
      <p:pic>
        <p:nvPicPr>
          <p:cNvPr id="49" name="Icon" descr="icon"/>
          <p:cNvPicPr>
            <a:picLocks noChangeAspect="1"/>
          </p:cNvPicPr>
          <p:nvPr/>
        </p:nvPicPr>
        <p:blipFill>
          <a:blip r:embed="rId10"/>
          <a:stretch>
            <a:fillRect/>
          </a:stretch>
        </p:blipFill>
        <p:spPr>
          <a:xfrm>
            <a:off x="9323552" y="3718280"/>
            <a:ext cx="591873" cy="591873"/>
          </a:xfrm>
          <a:prstGeom prst="rect">
            <a:avLst/>
          </a:prstGeom>
        </p:spPr>
      </p:pic>
      <p:sp>
        <p:nvSpPr>
          <p:cNvPr id="50" name="Text 40"/>
          <p:cNvSpPr txBox="1"/>
          <p:nvPr/>
        </p:nvSpPr>
        <p:spPr>
          <a:xfrm>
            <a:off x="9290304" y="4453128"/>
            <a:ext cx="2194560" cy="365760"/>
          </a:xfrm>
          <a:prstGeom prst="rect">
            <a:avLst/>
          </a:prstGeom>
          <a:noFill/>
          <a:ln/>
        </p:spPr>
        <p:txBody>
          <a:bodyPr wrap="square" lIns="0" tIns="0" rIns="0" bIns="0" rtlCol="0" anchor="t"/>
          <a:lstStyle/>
          <a:p>
            <a:pPr marL="0" indent="0">
              <a:buNone/>
            </a:pPr>
            <a:r>
              <a:rPr lang="en-US" sz="1700" b="1" dirty="0">
                <a:solidFill>
                  <a:schemeClr val="bg1"/>
                </a:solidFill>
              </a:rPr>
              <a:t>Writing</a:t>
            </a:r>
            <a:endParaRPr lang="en-US" sz="1700" dirty="0"/>
          </a:p>
        </p:txBody>
      </p:sp>
      <p:sp>
        <p:nvSpPr>
          <p:cNvPr id="51" name="Text 41"/>
          <p:cNvSpPr txBox="1"/>
          <p:nvPr/>
        </p:nvSpPr>
        <p:spPr>
          <a:xfrm>
            <a:off x="9290304" y="4782312"/>
            <a:ext cx="2194560" cy="320040"/>
          </a:xfrm>
          <a:prstGeom prst="rect">
            <a:avLst/>
          </a:prstGeom>
          <a:noFill/>
          <a:ln/>
        </p:spPr>
        <p:txBody>
          <a:bodyPr wrap="square" lIns="0" tIns="0" rIns="0" bIns="0" rtlCol="0" anchor="t"/>
          <a:lstStyle/>
          <a:p>
            <a:pPr marL="0" indent="0">
              <a:buNone/>
            </a:pPr>
            <a:r>
              <a:rPr lang="en-US" sz="1400" dirty="0">
                <a:solidFill>
                  <a:schemeClr val="bg2"/>
                </a:solidFill>
              </a:rPr>
              <a:t>Drafting and editing</a:t>
            </a:r>
            <a:endParaRPr lang="en-US" sz="1400" dirty="0"/>
          </a:p>
        </p:txBody>
      </p:sp>
      <p:sp>
        <p:nvSpPr>
          <p:cNvPr id="52" name="Panel glow"/>
          <p:cNvSpPr/>
          <p:nvPr/>
        </p:nvSpPr>
        <p:spPr>
          <a:xfrm>
            <a:off x="548640" y="5440680"/>
            <a:ext cx="11064240" cy="777240"/>
          </a:xfrm>
          <a:custGeom>
            <a:avLst/>
            <a:gdLst/>
            <a:ahLst/>
            <a:cxnLst/>
            <a:rect l="l" t="t" r="r" b="b"/>
            <a:pathLst>
              <a:path w="11064240" h="777240">
                <a:moveTo>
                  <a:pt x="0" y="0"/>
                </a:moveTo>
                <a:lnTo>
                  <a:pt x="10881360" y="0"/>
                </a:lnTo>
                <a:lnTo>
                  <a:pt x="11064240" y="182880"/>
                </a:lnTo>
                <a:lnTo>
                  <a:pt x="11064240" y="777240"/>
                </a:lnTo>
                <a:lnTo>
                  <a:pt x="182880" y="777240"/>
                </a:lnTo>
                <a:lnTo>
                  <a:pt x="0" y="594360"/>
                </a:lnTo>
                <a:close/>
              </a:path>
            </a:pathLst>
          </a:custGeom>
          <a:ln w="63500">
            <a:solidFill>
              <a:srgbClr val="9B5CFF">
                <a:alpha val="14000"/>
              </a:srgbClr>
            </a:solidFill>
            <a:prstDash val="solid"/>
          </a:ln>
        </p:spPr>
      </p:sp>
      <p:sp>
        <p:nvSpPr>
          <p:cNvPr id="53" name="HUD panel"/>
          <p:cNvSpPr/>
          <p:nvPr/>
        </p:nvSpPr>
        <p:spPr>
          <a:xfrm>
            <a:off x="548640" y="5440680"/>
            <a:ext cx="11064240" cy="777240"/>
          </a:xfrm>
          <a:custGeom>
            <a:avLst/>
            <a:gdLst/>
            <a:ahLst/>
            <a:cxnLst/>
            <a:rect l="l" t="t" r="r" b="b"/>
            <a:pathLst>
              <a:path w="11064240" h="777240">
                <a:moveTo>
                  <a:pt x="0" y="0"/>
                </a:moveTo>
                <a:lnTo>
                  <a:pt x="10881360" y="0"/>
                </a:lnTo>
                <a:lnTo>
                  <a:pt x="11064240" y="182880"/>
                </a:lnTo>
                <a:lnTo>
                  <a:pt x="11064240" y="777240"/>
                </a:lnTo>
                <a:lnTo>
                  <a:pt x="182880" y="777240"/>
                </a:lnTo>
                <a:lnTo>
                  <a:pt x="0" y="594360"/>
                </a:lnTo>
                <a:close/>
              </a:path>
            </a:pathLst>
          </a:custGeom>
          <a:solidFill>
            <a:schemeClr val="tx2">
              <a:alpha val="88000"/>
            </a:schemeClr>
          </a:solidFill>
          <a:ln w="15875">
            <a:solidFill>
              <a:srgbClr val="9B5CFF">
                <a:alpha val="90000"/>
              </a:srgbClr>
            </a:solidFill>
            <a:prstDash val="solid"/>
          </a:ln>
        </p:spPr>
      </p:sp>
      <p:sp>
        <p:nvSpPr>
          <p:cNvPr id="54" name="Text 44"/>
          <p:cNvSpPr txBox="1"/>
          <p:nvPr/>
        </p:nvSpPr>
        <p:spPr>
          <a:xfrm>
            <a:off x="868680" y="5440680"/>
            <a:ext cx="10424160" cy="777240"/>
          </a:xfrm>
          <a:prstGeom prst="rect">
            <a:avLst/>
          </a:prstGeom>
          <a:noFill/>
          <a:ln/>
        </p:spPr>
        <p:txBody>
          <a:bodyPr wrap="square" lIns="0" tIns="0" rIns="0" bIns="0" rtlCol="0" anchor="ctr"/>
          <a:lstStyle/>
          <a:p>
            <a:pPr marL="0" indent="0">
              <a:buNone/>
            </a:pPr>
            <a:r>
              <a:rPr lang="en-US" sz="1500" b="1" dirty="0">
                <a:solidFill>
                  <a:srgbClr val="25F4EE"/>
                </a:solidFill>
                <a:latin typeface="Courier New" pitchFamily="34" charset="0"/>
                <a:ea typeface="Courier New" pitchFamily="34" charset="-122"/>
                <a:cs typeface="Courier New" pitchFamily="34" charset="-120"/>
              </a:rPr>
              <a:t>&gt; </a:t>
            </a:r>
            <a:r>
              <a:rPr lang="en-US" sz="1500" dirty="0">
                <a:solidFill>
                  <a:schemeClr val="bg1"/>
                </a:solidFill>
              </a:rPr>
              <a:t>Reading the dashboard flow chart: Coding and Writing matter to both groups, Studying is student-only, and Customer Support, Office work and Data Analysis show up mostly on the professional side.</a:t>
            </a:r>
            <a:endParaRPr lang="en-US" sz="1500" dirty="0"/>
          </a:p>
        </p:txBody>
      </p:sp>
      <p:sp>
        <p:nvSpPr>
          <p:cNvPr id="5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5F4EE"/>
                </a:solidFill>
                <a:latin typeface="Courier New"/>
                <a:ea typeface="Courier New"/>
                <a:cs typeface="Courier New"/>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300" dirty="0">
                <a:solidFill>
                  <a:srgbClr val="25F4EE"/>
                </a:solidFill>
                <a:latin typeface="Courier New" pitchFamily="34" charset="0"/>
                <a:ea typeface="Courier New" pitchFamily="34" charset="-122"/>
                <a:cs typeface="Courier New" pitchFamily="34" charset="-120"/>
              </a:rPr>
              <a:t>// 05  IMPACT</a:t>
            </a:r>
            <a:endParaRPr lang="en-US" sz="1200" dirty="0"/>
          </a:p>
        </p:txBody>
      </p:sp>
      <p:sp>
        <p:nvSpPr>
          <p:cNvPr id="3" name="Text 1"/>
          <p:cNvSpPr>
            <a:spLocks noGrp="1"/>
          </p:cNvSpPr>
          <p:nvPr>
            <p:ph type="title" idx="101" hasCustomPrompt="1"/>
          </p:nvPr>
        </p:nvSpPr>
        <p:spPr>
          <a:xfrm>
            <a:off x="548640" y="530352"/>
            <a:ext cx="11064240" cy="777240"/>
          </a:xfrm>
          <a:prstGeom prst="rect">
            <a:avLst/>
          </a:prstGeom>
          <a:noFill/>
          <a:ln/>
        </p:spPr>
        <p:txBody>
          <a:bodyPr wrap="square" lIns="0" tIns="0" rIns="0" bIns="0" rtlCol="0" anchor="ctr"/>
          <a:lstStyle/>
          <a:p>
            <a:pPr marL="0" indent="0" algn="l">
              <a:buNone/>
            </a:pPr>
            <a:r>
              <a:rPr lang="en-US" sz="3400" b="1" dirty="0">
                <a:solidFill>
                  <a:schemeClr val="bg1"/>
                </a:solidFill>
              </a:rPr>
              <a:t>Productivity and satisfaction by group</a:t>
            </a:r>
            <a:endParaRPr lang="en-US" sz="3400" dirty="0"/>
          </a:p>
        </p:txBody>
      </p:sp>
      <p:sp>
        <p:nvSpPr>
          <p:cNvPr id="4" name="Panel glow"/>
          <p:cNvSpPr/>
          <p:nvPr/>
        </p:nvSpPr>
        <p:spPr>
          <a:xfrm>
            <a:off x="548640" y="1463040"/>
            <a:ext cx="6949440" cy="4572000"/>
          </a:xfrm>
          <a:custGeom>
            <a:avLst/>
            <a:gdLst/>
            <a:ahLst/>
            <a:cxnLst/>
            <a:rect l="l" t="t" r="r" b="b"/>
            <a:pathLst>
              <a:path w="6949440" h="4572000">
                <a:moveTo>
                  <a:pt x="0" y="0"/>
                </a:moveTo>
                <a:lnTo>
                  <a:pt x="6729984" y="0"/>
                </a:lnTo>
                <a:lnTo>
                  <a:pt x="6949440" y="219456"/>
                </a:lnTo>
                <a:lnTo>
                  <a:pt x="6949440" y="4572000"/>
                </a:lnTo>
                <a:lnTo>
                  <a:pt x="219456" y="4572000"/>
                </a:lnTo>
                <a:lnTo>
                  <a:pt x="0" y="4352544"/>
                </a:lnTo>
                <a:close/>
              </a:path>
            </a:pathLst>
          </a:custGeom>
          <a:ln w="63500">
            <a:solidFill>
              <a:srgbClr val="25F4EE">
                <a:alpha val="14000"/>
              </a:srgbClr>
            </a:solidFill>
            <a:prstDash val="solid"/>
          </a:ln>
        </p:spPr>
      </p:sp>
      <p:sp>
        <p:nvSpPr>
          <p:cNvPr id="5" name="HUD panel"/>
          <p:cNvSpPr/>
          <p:nvPr/>
        </p:nvSpPr>
        <p:spPr>
          <a:xfrm>
            <a:off x="548640" y="1463040"/>
            <a:ext cx="6949440" cy="4572000"/>
          </a:xfrm>
          <a:custGeom>
            <a:avLst/>
            <a:gdLst/>
            <a:ahLst/>
            <a:cxnLst/>
            <a:rect l="l" t="t" r="r" b="b"/>
            <a:pathLst>
              <a:path w="6949440" h="4572000">
                <a:moveTo>
                  <a:pt x="0" y="0"/>
                </a:moveTo>
                <a:lnTo>
                  <a:pt x="6729984" y="0"/>
                </a:lnTo>
                <a:lnTo>
                  <a:pt x="6949440" y="219456"/>
                </a:lnTo>
                <a:lnTo>
                  <a:pt x="6949440" y="4572000"/>
                </a:lnTo>
                <a:lnTo>
                  <a:pt x="219456" y="4572000"/>
                </a:lnTo>
                <a:lnTo>
                  <a:pt x="0" y="4352544"/>
                </a:lnTo>
                <a:close/>
              </a:path>
            </a:pathLst>
          </a:custGeom>
          <a:solidFill>
            <a:schemeClr val="tx2">
              <a:alpha val="88000"/>
            </a:schemeClr>
          </a:solidFill>
          <a:ln w="15875">
            <a:solidFill>
              <a:srgbClr val="25F4EE">
                <a:alpha val="90000"/>
              </a:srgbClr>
            </a:solidFill>
            <a:prstDash val="solid"/>
          </a:ln>
        </p:spPr>
      </p:sp>
      <p:graphicFrame>
        <p:nvGraphicFramePr>
          <p:cNvPr id="6" name="Chart 0"/>
          <p:cNvGraphicFramePr/>
          <p:nvPr/>
        </p:nvGraphicFramePr>
        <p:xfrm>
          <a:off x="777240" y="1600200"/>
          <a:ext cx="64922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868680" y="5669280"/>
            <a:ext cx="6400800" cy="274320"/>
          </a:xfrm>
          <a:prstGeom prst="rect">
            <a:avLst/>
          </a:prstGeom>
          <a:noFill/>
          <a:ln/>
        </p:spPr>
        <p:txBody>
          <a:bodyPr wrap="square" lIns="0" tIns="0" rIns="0" bIns="0" rtlCol="0" anchor="t"/>
          <a:lstStyle/>
          <a:p>
            <a:pPr marL="0" indent="0">
              <a:buNone/>
            </a:pPr>
            <a:r>
              <a:rPr lang="en-US" sz="1000" dirty="0">
                <a:solidFill>
                  <a:schemeClr val="bg2"/>
                </a:solidFill>
                <a:latin typeface="Courier New" pitchFamily="34" charset="0"/>
                <a:ea typeface="Courier New" pitchFamily="34" charset="-122"/>
                <a:cs typeface="Courier New" pitchFamily="34" charset="-120"/>
              </a:rPr>
              <a:t>TOTALS READ FROM THE DASHBOARD COLUMN CHART (APPROXIMATE).</a:t>
            </a:r>
            <a:endParaRPr lang="en-US" sz="1000" dirty="0"/>
          </a:p>
        </p:txBody>
      </p:sp>
      <p:sp>
        <p:nvSpPr>
          <p:cNvPr id="8" name="Panel glow"/>
          <p:cNvSpPr/>
          <p:nvPr/>
        </p:nvSpPr>
        <p:spPr>
          <a:xfrm>
            <a:off x="7772400" y="1463040"/>
            <a:ext cx="3867912" cy="2103120"/>
          </a:xfrm>
          <a:custGeom>
            <a:avLst/>
            <a:gdLst/>
            <a:ahLst/>
            <a:cxnLst/>
            <a:rect l="l" t="t" r="r" b="b"/>
            <a:pathLst>
              <a:path w="3867912" h="2103120">
                <a:moveTo>
                  <a:pt x="0" y="0"/>
                </a:moveTo>
                <a:lnTo>
                  <a:pt x="3648456" y="0"/>
                </a:lnTo>
                <a:lnTo>
                  <a:pt x="3867912" y="219456"/>
                </a:lnTo>
                <a:lnTo>
                  <a:pt x="3867912" y="2103120"/>
                </a:lnTo>
                <a:lnTo>
                  <a:pt x="219456" y="2103120"/>
                </a:lnTo>
                <a:lnTo>
                  <a:pt x="0" y="1883664"/>
                </a:lnTo>
                <a:close/>
              </a:path>
            </a:pathLst>
          </a:custGeom>
          <a:ln w="63500">
            <a:solidFill>
              <a:srgbClr val="25F4EE">
                <a:alpha val="14000"/>
              </a:srgbClr>
            </a:solidFill>
            <a:prstDash val="solid"/>
          </a:ln>
        </p:spPr>
      </p:sp>
      <p:sp>
        <p:nvSpPr>
          <p:cNvPr id="9" name="HUD panel"/>
          <p:cNvSpPr/>
          <p:nvPr/>
        </p:nvSpPr>
        <p:spPr>
          <a:xfrm>
            <a:off x="7772400" y="1463040"/>
            <a:ext cx="3867912" cy="2103120"/>
          </a:xfrm>
          <a:custGeom>
            <a:avLst/>
            <a:gdLst/>
            <a:ahLst/>
            <a:cxnLst/>
            <a:rect l="l" t="t" r="r" b="b"/>
            <a:pathLst>
              <a:path w="3867912" h="2103120">
                <a:moveTo>
                  <a:pt x="0" y="0"/>
                </a:moveTo>
                <a:lnTo>
                  <a:pt x="3648456" y="0"/>
                </a:lnTo>
                <a:lnTo>
                  <a:pt x="3867912" y="219456"/>
                </a:lnTo>
                <a:lnTo>
                  <a:pt x="3867912" y="2103120"/>
                </a:lnTo>
                <a:lnTo>
                  <a:pt x="219456" y="2103120"/>
                </a:lnTo>
                <a:lnTo>
                  <a:pt x="0" y="1883664"/>
                </a:lnTo>
                <a:close/>
              </a:path>
            </a:pathLst>
          </a:custGeom>
          <a:solidFill>
            <a:schemeClr val="tx2">
              <a:alpha val="88000"/>
            </a:schemeClr>
          </a:solidFill>
          <a:ln w="15875">
            <a:solidFill>
              <a:srgbClr val="25F4EE">
                <a:alpha val="90000"/>
              </a:srgbClr>
            </a:solidFill>
            <a:prstDash val="solid"/>
          </a:ln>
        </p:spPr>
      </p:sp>
      <p:sp>
        <p:nvSpPr>
          <p:cNvPr id="10" name="Icon chip"/>
          <p:cNvSpPr/>
          <p:nvPr/>
        </p:nvSpPr>
        <p:spPr>
          <a:xfrm>
            <a:off x="8046720" y="1719072"/>
            <a:ext cx="548640" cy="548640"/>
          </a:xfrm>
          <a:custGeom>
            <a:avLst/>
            <a:gdLst/>
            <a:ahLst/>
            <a:cxnLst/>
            <a:rect l="l" t="t" r="r" b="b"/>
            <a:pathLst>
              <a:path w="548640" h="548640">
                <a:moveTo>
                  <a:pt x="142646" y="0"/>
                </a:moveTo>
                <a:lnTo>
                  <a:pt x="405994" y="0"/>
                </a:lnTo>
                <a:lnTo>
                  <a:pt x="548640" y="142646"/>
                </a:lnTo>
                <a:lnTo>
                  <a:pt x="548640" y="405994"/>
                </a:lnTo>
                <a:lnTo>
                  <a:pt x="405994" y="548640"/>
                </a:lnTo>
                <a:lnTo>
                  <a:pt x="142646" y="548640"/>
                </a:lnTo>
                <a:lnTo>
                  <a:pt x="0" y="405994"/>
                </a:lnTo>
                <a:lnTo>
                  <a:pt x="0" y="142646"/>
                </a:lnTo>
                <a:close/>
              </a:path>
            </a:pathLst>
          </a:custGeom>
          <a:solidFill>
            <a:schemeClr val="tx1">
              <a:alpha val="75000"/>
            </a:schemeClr>
          </a:solidFill>
          <a:ln w="19050">
            <a:solidFill>
              <a:srgbClr val="25F4EE"/>
            </a:solidFill>
            <a:prstDash val="solid"/>
          </a:ln>
        </p:spPr>
      </p:sp>
      <p:pic>
        <p:nvPicPr>
          <p:cNvPr id="11" name="Icon" descr="icon"/>
          <p:cNvPicPr>
            <a:picLocks noChangeAspect="1"/>
          </p:cNvPicPr>
          <p:nvPr/>
        </p:nvPicPr>
        <p:blipFill>
          <a:blip r:embed="rId4"/>
          <a:stretch>
            <a:fillRect/>
          </a:stretch>
        </p:blipFill>
        <p:spPr>
          <a:xfrm>
            <a:off x="8074426" y="1746778"/>
            <a:ext cx="493227" cy="493227"/>
          </a:xfrm>
          <a:prstGeom prst="rect">
            <a:avLst/>
          </a:prstGeom>
        </p:spPr>
      </p:pic>
      <p:sp>
        <p:nvSpPr>
          <p:cNvPr id="12" name="Text 8"/>
          <p:cNvSpPr txBox="1"/>
          <p:nvPr/>
        </p:nvSpPr>
        <p:spPr>
          <a:xfrm>
            <a:off x="8778240" y="1719072"/>
            <a:ext cx="2743200" cy="548640"/>
          </a:xfrm>
          <a:prstGeom prst="rect">
            <a:avLst/>
          </a:prstGeom>
          <a:noFill/>
          <a:ln/>
        </p:spPr>
        <p:txBody>
          <a:bodyPr wrap="square" lIns="0" tIns="0" rIns="0" bIns="0" rtlCol="0" anchor="ctr"/>
          <a:lstStyle/>
          <a:p>
            <a:pPr marL="0" indent="0">
              <a:buNone/>
            </a:pPr>
            <a:r>
              <a:rPr lang="en-US" sz="2000" b="1" dirty="0">
                <a:solidFill>
                  <a:schemeClr val="bg1"/>
                </a:solidFill>
              </a:rPr>
              <a:t>Satisfaction leads</a:t>
            </a:r>
            <a:endParaRPr lang="en-US" sz="2000" dirty="0"/>
          </a:p>
        </p:txBody>
      </p:sp>
      <p:sp>
        <p:nvSpPr>
          <p:cNvPr id="13" name="Text 9"/>
          <p:cNvSpPr txBox="1"/>
          <p:nvPr/>
        </p:nvSpPr>
        <p:spPr>
          <a:xfrm>
            <a:off x="8046720" y="2377440"/>
            <a:ext cx="3383280" cy="1097280"/>
          </a:xfrm>
          <a:prstGeom prst="rect">
            <a:avLst/>
          </a:prstGeom>
          <a:noFill/>
          <a:ln/>
        </p:spPr>
        <p:txBody>
          <a:bodyPr wrap="square" lIns="0" tIns="0" rIns="0" bIns="0" rtlCol="0" anchor="t"/>
          <a:lstStyle/>
          <a:p>
            <a:pPr marL="0" indent="0">
              <a:buNone/>
            </a:pPr>
            <a:r>
              <a:rPr lang="en-US" sz="1400" dirty="0">
                <a:solidFill>
                  <a:schemeClr val="bg2"/>
                </a:solidFill>
              </a:rPr>
              <a:t>In both groups, total satisfaction scores sit above productivity scores: people rate how they feel about AI higher than the gain it gives.</a:t>
            </a:r>
            <a:endParaRPr lang="en-US" sz="1400" dirty="0"/>
          </a:p>
        </p:txBody>
      </p:sp>
      <p:sp>
        <p:nvSpPr>
          <p:cNvPr id="14" name="Panel glow"/>
          <p:cNvSpPr/>
          <p:nvPr/>
        </p:nvSpPr>
        <p:spPr>
          <a:xfrm>
            <a:off x="7772400" y="3931920"/>
            <a:ext cx="3867912" cy="2103120"/>
          </a:xfrm>
          <a:custGeom>
            <a:avLst/>
            <a:gdLst/>
            <a:ahLst/>
            <a:cxnLst/>
            <a:rect l="l" t="t" r="r" b="b"/>
            <a:pathLst>
              <a:path w="3867912" h="2103120">
                <a:moveTo>
                  <a:pt x="0" y="0"/>
                </a:moveTo>
                <a:lnTo>
                  <a:pt x="3648456" y="0"/>
                </a:lnTo>
                <a:lnTo>
                  <a:pt x="3867912" y="219456"/>
                </a:lnTo>
                <a:lnTo>
                  <a:pt x="3867912" y="2103120"/>
                </a:lnTo>
                <a:lnTo>
                  <a:pt x="219456" y="2103120"/>
                </a:lnTo>
                <a:lnTo>
                  <a:pt x="0" y="1883664"/>
                </a:lnTo>
                <a:close/>
              </a:path>
            </a:pathLst>
          </a:custGeom>
          <a:ln w="63500">
            <a:solidFill>
              <a:srgbClr val="9B5CFF">
                <a:alpha val="14000"/>
              </a:srgbClr>
            </a:solidFill>
            <a:prstDash val="solid"/>
          </a:ln>
        </p:spPr>
      </p:sp>
      <p:sp>
        <p:nvSpPr>
          <p:cNvPr id="15" name="HUD panel"/>
          <p:cNvSpPr/>
          <p:nvPr/>
        </p:nvSpPr>
        <p:spPr>
          <a:xfrm>
            <a:off x="7772400" y="3931920"/>
            <a:ext cx="3867912" cy="2103120"/>
          </a:xfrm>
          <a:custGeom>
            <a:avLst/>
            <a:gdLst/>
            <a:ahLst/>
            <a:cxnLst/>
            <a:rect l="l" t="t" r="r" b="b"/>
            <a:pathLst>
              <a:path w="3867912" h="2103120">
                <a:moveTo>
                  <a:pt x="0" y="0"/>
                </a:moveTo>
                <a:lnTo>
                  <a:pt x="3648456" y="0"/>
                </a:lnTo>
                <a:lnTo>
                  <a:pt x="3867912" y="219456"/>
                </a:lnTo>
                <a:lnTo>
                  <a:pt x="3867912" y="2103120"/>
                </a:lnTo>
                <a:lnTo>
                  <a:pt x="219456" y="2103120"/>
                </a:lnTo>
                <a:lnTo>
                  <a:pt x="0" y="1883664"/>
                </a:lnTo>
                <a:close/>
              </a:path>
            </a:pathLst>
          </a:custGeom>
          <a:solidFill>
            <a:schemeClr val="tx2">
              <a:alpha val="88000"/>
            </a:schemeClr>
          </a:solidFill>
          <a:ln w="15875">
            <a:solidFill>
              <a:srgbClr val="9B5CFF">
                <a:alpha val="90000"/>
              </a:srgbClr>
            </a:solidFill>
            <a:prstDash val="solid"/>
          </a:ln>
        </p:spPr>
      </p:sp>
      <p:sp>
        <p:nvSpPr>
          <p:cNvPr id="16" name="Icon chip"/>
          <p:cNvSpPr/>
          <p:nvPr/>
        </p:nvSpPr>
        <p:spPr>
          <a:xfrm>
            <a:off x="8046720" y="4187952"/>
            <a:ext cx="548640" cy="548640"/>
          </a:xfrm>
          <a:custGeom>
            <a:avLst/>
            <a:gdLst/>
            <a:ahLst/>
            <a:cxnLst/>
            <a:rect l="l" t="t" r="r" b="b"/>
            <a:pathLst>
              <a:path w="548640" h="548640">
                <a:moveTo>
                  <a:pt x="142646" y="0"/>
                </a:moveTo>
                <a:lnTo>
                  <a:pt x="405994" y="0"/>
                </a:lnTo>
                <a:lnTo>
                  <a:pt x="548640" y="142646"/>
                </a:lnTo>
                <a:lnTo>
                  <a:pt x="548640" y="405994"/>
                </a:lnTo>
                <a:lnTo>
                  <a:pt x="405994" y="548640"/>
                </a:lnTo>
                <a:lnTo>
                  <a:pt x="142646" y="548640"/>
                </a:lnTo>
                <a:lnTo>
                  <a:pt x="0" y="405994"/>
                </a:lnTo>
                <a:lnTo>
                  <a:pt x="0" y="142646"/>
                </a:lnTo>
                <a:close/>
              </a:path>
            </a:pathLst>
          </a:custGeom>
          <a:solidFill>
            <a:schemeClr val="tx1">
              <a:alpha val="75000"/>
            </a:schemeClr>
          </a:solidFill>
          <a:ln w="19050">
            <a:solidFill>
              <a:srgbClr val="9B5CFF"/>
            </a:solidFill>
            <a:prstDash val="solid"/>
          </a:ln>
        </p:spPr>
      </p:sp>
      <p:pic>
        <p:nvPicPr>
          <p:cNvPr id="17" name="Icon" descr="icon"/>
          <p:cNvPicPr>
            <a:picLocks noChangeAspect="1"/>
          </p:cNvPicPr>
          <p:nvPr/>
        </p:nvPicPr>
        <p:blipFill>
          <a:blip r:embed="rId5"/>
          <a:stretch>
            <a:fillRect/>
          </a:stretch>
        </p:blipFill>
        <p:spPr>
          <a:xfrm>
            <a:off x="8074426" y="4215658"/>
            <a:ext cx="493227" cy="493227"/>
          </a:xfrm>
          <a:prstGeom prst="rect">
            <a:avLst/>
          </a:prstGeom>
        </p:spPr>
      </p:pic>
      <p:sp>
        <p:nvSpPr>
          <p:cNvPr id="18" name="Text 13"/>
          <p:cNvSpPr txBox="1"/>
          <p:nvPr/>
        </p:nvSpPr>
        <p:spPr>
          <a:xfrm>
            <a:off x="8778240" y="4187952"/>
            <a:ext cx="2743200" cy="548640"/>
          </a:xfrm>
          <a:prstGeom prst="rect">
            <a:avLst/>
          </a:prstGeom>
          <a:noFill/>
          <a:ln/>
        </p:spPr>
        <p:txBody>
          <a:bodyPr wrap="square" lIns="0" tIns="0" rIns="0" bIns="0" rtlCol="0" anchor="ctr"/>
          <a:lstStyle/>
          <a:p>
            <a:pPr marL="0" indent="0">
              <a:buNone/>
            </a:pPr>
            <a:r>
              <a:rPr lang="en-US" sz="2000" b="1" dirty="0">
                <a:solidFill>
                  <a:schemeClr val="bg1"/>
                </a:solidFill>
              </a:rPr>
              <a:t>Students lead</a:t>
            </a:r>
            <a:endParaRPr lang="en-US" sz="2000" dirty="0"/>
          </a:p>
        </p:txBody>
      </p:sp>
      <p:sp>
        <p:nvSpPr>
          <p:cNvPr id="19" name="Text 14"/>
          <p:cNvSpPr txBox="1"/>
          <p:nvPr/>
        </p:nvSpPr>
        <p:spPr>
          <a:xfrm>
            <a:off x="8046720" y="4846320"/>
            <a:ext cx="3383280" cy="1097280"/>
          </a:xfrm>
          <a:prstGeom prst="rect">
            <a:avLst/>
          </a:prstGeom>
          <a:noFill/>
          <a:ln/>
        </p:spPr>
        <p:txBody>
          <a:bodyPr wrap="square" lIns="0" tIns="0" rIns="0" bIns="0" rtlCol="0" anchor="t"/>
          <a:lstStyle/>
          <a:p>
            <a:pPr marL="0" indent="0">
              <a:buNone/>
            </a:pPr>
            <a:r>
              <a:rPr lang="en-US" sz="1400" dirty="0">
                <a:solidFill>
                  <a:schemeClr val="bg2"/>
                </a:solidFill>
              </a:rPr>
              <a:t>Students post higher totals on both scores, but they are also the bigger group (158 vs 142), so these are sums, not averages.</a:t>
            </a:r>
            <a:endParaRPr lang="en-US" sz="14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5F4EE"/>
                </a:solidFill>
                <a:latin typeface="Courier New"/>
                <a:ea typeface="Courier New"/>
                <a:cs typeface="Courier New"/>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300" dirty="0">
                <a:solidFill>
                  <a:srgbClr val="25F4EE"/>
                </a:solidFill>
                <a:latin typeface="Courier New" pitchFamily="34" charset="0"/>
                <a:ea typeface="Courier New" pitchFamily="34" charset="-122"/>
                <a:cs typeface="Courier New" pitchFamily="34" charset="-120"/>
              </a:rPr>
              <a:t>// 06  SENTIMENT</a:t>
            </a:r>
            <a:endParaRPr lang="en-US" sz="1200" dirty="0"/>
          </a:p>
        </p:txBody>
      </p:sp>
      <p:sp>
        <p:nvSpPr>
          <p:cNvPr id="3" name="Text 1"/>
          <p:cNvSpPr>
            <a:spLocks noGrp="1"/>
          </p:cNvSpPr>
          <p:nvPr>
            <p:ph type="title" idx="101" hasCustomPrompt="1"/>
          </p:nvPr>
        </p:nvSpPr>
        <p:spPr>
          <a:xfrm>
            <a:off x="548640" y="530352"/>
            <a:ext cx="11064240" cy="777240"/>
          </a:xfrm>
          <a:prstGeom prst="rect">
            <a:avLst/>
          </a:prstGeom>
          <a:noFill/>
          <a:ln/>
        </p:spPr>
        <p:txBody>
          <a:bodyPr wrap="square" lIns="0" tIns="0" rIns="0" bIns="0" rtlCol="0" anchor="ctr"/>
          <a:lstStyle/>
          <a:p>
            <a:pPr marL="0" indent="0" algn="l">
              <a:buNone/>
            </a:pPr>
            <a:r>
              <a:rPr lang="en-US" sz="3400" b="1" dirty="0">
                <a:solidFill>
                  <a:schemeClr val="bg1"/>
                </a:solidFill>
              </a:rPr>
              <a:t>Would users recommend AI tools?</a:t>
            </a:r>
            <a:endParaRPr lang="en-US" sz="3400" dirty="0"/>
          </a:p>
        </p:txBody>
      </p:sp>
      <p:sp>
        <p:nvSpPr>
          <p:cNvPr id="4" name="Panel glow"/>
          <p:cNvSpPr/>
          <p:nvPr/>
        </p:nvSpPr>
        <p:spPr>
          <a:xfrm>
            <a:off x="548640" y="1463040"/>
            <a:ext cx="5669280" cy="4572000"/>
          </a:xfrm>
          <a:custGeom>
            <a:avLst/>
            <a:gdLst/>
            <a:ahLst/>
            <a:cxnLst/>
            <a:rect l="l" t="t" r="r" b="b"/>
            <a:pathLst>
              <a:path w="5669280" h="4572000">
                <a:moveTo>
                  <a:pt x="0" y="0"/>
                </a:moveTo>
                <a:lnTo>
                  <a:pt x="5449824" y="0"/>
                </a:lnTo>
                <a:lnTo>
                  <a:pt x="5669280" y="219456"/>
                </a:lnTo>
                <a:lnTo>
                  <a:pt x="5669280" y="4572000"/>
                </a:lnTo>
                <a:lnTo>
                  <a:pt x="219456" y="4572000"/>
                </a:lnTo>
                <a:lnTo>
                  <a:pt x="0" y="4352544"/>
                </a:lnTo>
                <a:close/>
              </a:path>
            </a:pathLst>
          </a:custGeom>
          <a:ln w="63500">
            <a:solidFill>
              <a:srgbClr val="9B5CFF">
                <a:alpha val="14000"/>
              </a:srgbClr>
            </a:solidFill>
            <a:prstDash val="solid"/>
          </a:ln>
        </p:spPr>
      </p:sp>
      <p:sp>
        <p:nvSpPr>
          <p:cNvPr id="5" name="HUD panel"/>
          <p:cNvSpPr/>
          <p:nvPr/>
        </p:nvSpPr>
        <p:spPr>
          <a:xfrm>
            <a:off x="548640" y="1463040"/>
            <a:ext cx="5669280" cy="4572000"/>
          </a:xfrm>
          <a:custGeom>
            <a:avLst/>
            <a:gdLst/>
            <a:ahLst/>
            <a:cxnLst/>
            <a:rect l="l" t="t" r="r" b="b"/>
            <a:pathLst>
              <a:path w="5669280" h="4572000">
                <a:moveTo>
                  <a:pt x="0" y="0"/>
                </a:moveTo>
                <a:lnTo>
                  <a:pt x="5449824" y="0"/>
                </a:lnTo>
                <a:lnTo>
                  <a:pt x="5669280" y="219456"/>
                </a:lnTo>
                <a:lnTo>
                  <a:pt x="5669280" y="4572000"/>
                </a:lnTo>
                <a:lnTo>
                  <a:pt x="219456" y="4572000"/>
                </a:lnTo>
                <a:lnTo>
                  <a:pt x="0" y="4352544"/>
                </a:lnTo>
                <a:close/>
              </a:path>
            </a:pathLst>
          </a:custGeom>
          <a:solidFill>
            <a:schemeClr val="tx2">
              <a:alpha val="88000"/>
            </a:schemeClr>
          </a:solidFill>
          <a:ln w="15875">
            <a:solidFill>
              <a:srgbClr val="9B5CFF">
                <a:alpha val="90000"/>
              </a:srgbClr>
            </a:solidFill>
            <a:prstDash val="solid"/>
          </a:ln>
        </p:spPr>
      </p:sp>
      <p:graphicFrame>
        <p:nvGraphicFramePr>
          <p:cNvPr id="6" name="Chart 0"/>
          <p:cNvGraphicFramePr/>
          <p:nvPr/>
        </p:nvGraphicFramePr>
        <p:xfrm>
          <a:off x="777240" y="1645920"/>
          <a:ext cx="521208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Panel glow"/>
          <p:cNvSpPr/>
          <p:nvPr/>
        </p:nvSpPr>
        <p:spPr>
          <a:xfrm>
            <a:off x="6492240" y="1463040"/>
            <a:ext cx="5148072" cy="2286000"/>
          </a:xfrm>
          <a:custGeom>
            <a:avLst/>
            <a:gdLst/>
            <a:ahLst/>
            <a:cxnLst/>
            <a:rect l="l" t="t" r="r" b="b"/>
            <a:pathLst>
              <a:path w="5148072" h="2286000">
                <a:moveTo>
                  <a:pt x="0" y="0"/>
                </a:moveTo>
                <a:lnTo>
                  <a:pt x="4928616" y="0"/>
                </a:lnTo>
                <a:lnTo>
                  <a:pt x="5148072" y="219456"/>
                </a:lnTo>
                <a:lnTo>
                  <a:pt x="5148072" y="2286000"/>
                </a:lnTo>
                <a:lnTo>
                  <a:pt x="219456" y="2286000"/>
                </a:lnTo>
                <a:lnTo>
                  <a:pt x="0" y="2066544"/>
                </a:lnTo>
                <a:close/>
              </a:path>
            </a:pathLst>
          </a:custGeom>
          <a:ln w="63500">
            <a:solidFill>
              <a:srgbClr val="9B5CFF">
                <a:alpha val="14000"/>
              </a:srgbClr>
            </a:solidFill>
            <a:prstDash val="solid"/>
          </a:ln>
        </p:spPr>
      </p:sp>
      <p:sp>
        <p:nvSpPr>
          <p:cNvPr id="8" name="HUD panel"/>
          <p:cNvSpPr/>
          <p:nvPr/>
        </p:nvSpPr>
        <p:spPr>
          <a:xfrm>
            <a:off x="6492240" y="1463040"/>
            <a:ext cx="5148072" cy="2286000"/>
          </a:xfrm>
          <a:custGeom>
            <a:avLst/>
            <a:gdLst/>
            <a:ahLst/>
            <a:cxnLst/>
            <a:rect l="l" t="t" r="r" b="b"/>
            <a:pathLst>
              <a:path w="5148072" h="2286000">
                <a:moveTo>
                  <a:pt x="0" y="0"/>
                </a:moveTo>
                <a:lnTo>
                  <a:pt x="4928616" y="0"/>
                </a:lnTo>
                <a:lnTo>
                  <a:pt x="5148072" y="219456"/>
                </a:lnTo>
                <a:lnTo>
                  <a:pt x="5148072" y="2286000"/>
                </a:lnTo>
                <a:lnTo>
                  <a:pt x="219456" y="2286000"/>
                </a:lnTo>
                <a:lnTo>
                  <a:pt x="0" y="2066544"/>
                </a:lnTo>
                <a:close/>
              </a:path>
            </a:pathLst>
          </a:custGeom>
          <a:solidFill>
            <a:schemeClr val="tx2">
              <a:alpha val="88000"/>
            </a:schemeClr>
          </a:solidFill>
          <a:ln w="15875">
            <a:solidFill>
              <a:srgbClr val="9B5CFF">
                <a:alpha val="90000"/>
              </a:srgbClr>
            </a:solidFill>
            <a:prstDash val="solid"/>
          </a:ln>
        </p:spPr>
      </p:sp>
      <p:sp>
        <p:nvSpPr>
          <p:cNvPr id="9" name="Icon chip"/>
          <p:cNvSpPr/>
          <p:nvPr/>
        </p:nvSpPr>
        <p:spPr>
          <a:xfrm>
            <a:off x="6858000" y="2240280"/>
            <a:ext cx="822960" cy="822960"/>
          </a:xfrm>
          <a:custGeom>
            <a:avLst/>
            <a:gdLst/>
            <a:ahLst/>
            <a:cxnLst/>
            <a:rect l="l" t="t" r="r" b="b"/>
            <a:pathLst>
              <a:path w="822960" h="822960">
                <a:moveTo>
                  <a:pt x="213970" y="0"/>
                </a:moveTo>
                <a:lnTo>
                  <a:pt x="608990" y="0"/>
                </a:lnTo>
                <a:lnTo>
                  <a:pt x="822960" y="213970"/>
                </a:lnTo>
                <a:lnTo>
                  <a:pt x="822960" y="608990"/>
                </a:lnTo>
                <a:lnTo>
                  <a:pt x="608990" y="822960"/>
                </a:lnTo>
                <a:lnTo>
                  <a:pt x="213970" y="822960"/>
                </a:lnTo>
                <a:lnTo>
                  <a:pt x="0" y="608990"/>
                </a:lnTo>
                <a:lnTo>
                  <a:pt x="0" y="213970"/>
                </a:lnTo>
                <a:close/>
              </a:path>
            </a:pathLst>
          </a:custGeom>
          <a:solidFill>
            <a:schemeClr val="tx1">
              <a:alpha val="75000"/>
            </a:schemeClr>
          </a:solidFill>
          <a:ln w="19050">
            <a:solidFill>
              <a:srgbClr val="9B5CFF"/>
            </a:solidFill>
            <a:prstDash val="solid"/>
          </a:ln>
        </p:spPr>
      </p:sp>
      <p:pic>
        <p:nvPicPr>
          <p:cNvPr id="10" name="Icon" descr="icon"/>
          <p:cNvPicPr>
            <a:picLocks noChangeAspect="1"/>
          </p:cNvPicPr>
          <p:nvPr/>
        </p:nvPicPr>
        <p:blipFill>
          <a:blip r:embed="rId4"/>
          <a:stretch>
            <a:fillRect/>
          </a:stretch>
        </p:blipFill>
        <p:spPr>
          <a:xfrm>
            <a:off x="6899559" y="2281839"/>
            <a:ext cx="739841" cy="739841"/>
          </a:xfrm>
          <a:prstGeom prst="rect">
            <a:avLst/>
          </a:prstGeom>
        </p:spPr>
      </p:pic>
      <p:sp>
        <p:nvSpPr>
          <p:cNvPr id="11" name="Text 7"/>
          <p:cNvSpPr txBox="1"/>
          <p:nvPr/>
        </p:nvSpPr>
        <p:spPr>
          <a:xfrm>
            <a:off x="8092440" y="1691640"/>
            <a:ext cx="3383280" cy="1280160"/>
          </a:xfrm>
          <a:prstGeom prst="rect">
            <a:avLst/>
          </a:prstGeom>
          <a:noFill/>
          <a:ln/>
        </p:spPr>
        <p:txBody>
          <a:bodyPr wrap="square" lIns="0" tIns="0" rIns="0" bIns="0" rtlCol="0" anchor="ctr"/>
          <a:lstStyle/>
          <a:p>
            <a:pPr marL="0" indent="0">
              <a:buNone/>
            </a:pPr>
            <a:r>
              <a:rPr lang="en-US" sz="7200" b="1" dirty="0">
                <a:solidFill>
                  <a:srgbClr val="9B5CFF"/>
                </a:solidFill>
                <a:latin typeface="Courier New" pitchFamily="34" charset="0"/>
                <a:ea typeface="Courier New" pitchFamily="34" charset="-122"/>
                <a:cs typeface="Courier New" pitchFamily="34" charset="-120"/>
              </a:rPr>
              <a:t>61%</a:t>
            </a:r>
            <a:endParaRPr lang="en-US" sz="7200" dirty="0"/>
          </a:p>
        </p:txBody>
      </p:sp>
      <p:sp>
        <p:nvSpPr>
          <p:cNvPr id="12" name="Text 8"/>
          <p:cNvSpPr txBox="1"/>
          <p:nvPr/>
        </p:nvSpPr>
        <p:spPr>
          <a:xfrm>
            <a:off x="8092440" y="3017520"/>
            <a:ext cx="3383280" cy="457200"/>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WOULD RECOMMEND (183 USERS)</a:t>
            </a:r>
            <a:endParaRPr lang="en-US" sz="1200" dirty="0"/>
          </a:p>
        </p:txBody>
      </p:sp>
      <p:sp>
        <p:nvSpPr>
          <p:cNvPr id="13" name="Panel glow"/>
          <p:cNvSpPr/>
          <p:nvPr/>
        </p:nvSpPr>
        <p:spPr>
          <a:xfrm>
            <a:off x="6492240" y="4023360"/>
            <a:ext cx="2487168" cy="2011680"/>
          </a:xfrm>
          <a:custGeom>
            <a:avLst/>
            <a:gdLst/>
            <a:ahLst/>
            <a:cxnLst/>
            <a:rect l="l" t="t" r="r" b="b"/>
            <a:pathLst>
              <a:path w="2487168" h="2011680">
                <a:moveTo>
                  <a:pt x="0" y="0"/>
                </a:moveTo>
                <a:lnTo>
                  <a:pt x="2304288" y="0"/>
                </a:lnTo>
                <a:lnTo>
                  <a:pt x="2487168" y="182880"/>
                </a:lnTo>
                <a:lnTo>
                  <a:pt x="2487168" y="2011680"/>
                </a:lnTo>
                <a:lnTo>
                  <a:pt x="182880" y="2011680"/>
                </a:lnTo>
                <a:lnTo>
                  <a:pt x="0" y="1828800"/>
                </a:lnTo>
                <a:close/>
              </a:path>
            </a:pathLst>
          </a:custGeom>
          <a:ln w="63500">
            <a:solidFill>
              <a:srgbClr val="25F4EE">
                <a:alpha val="14000"/>
              </a:srgbClr>
            </a:solidFill>
            <a:prstDash val="solid"/>
          </a:ln>
        </p:spPr>
      </p:sp>
      <p:sp>
        <p:nvSpPr>
          <p:cNvPr id="14" name="HUD panel"/>
          <p:cNvSpPr/>
          <p:nvPr/>
        </p:nvSpPr>
        <p:spPr>
          <a:xfrm>
            <a:off x="6492240" y="4023360"/>
            <a:ext cx="2487168" cy="2011680"/>
          </a:xfrm>
          <a:custGeom>
            <a:avLst/>
            <a:gdLst/>
            <a:ahLst/>
            <a:cxnLst/>
            <a:rect l="l" t="t" r="r" b="b"/>
            <a:pathLst>
              <a:path w="2487168" h="2011680">
                <a:moveTo>
                  <a:pt x="0" y="0"/>
                </a:moveTo>
                <a:lnTo>
                  <a:pt x="2304288" y="0"/>
                </a:lnTo>
                <a:lnTo>
                  <a:pt x="2487168" y="182880"/>
                </a:lnTo>
                <a:lnTo>
                  <a:pt x="2487168" y="2011680"/>
                </a:lnTo>
                <a:lnTo>
                  <a:pt x="182880" y="2011680"/>
                </a:lnTo>
                <a:lnTo>
                  <a:pt x="0" y="1828800"/>
                </a:lnTo>
                <a:close/>
              </a:path>
            </a:pathLst>
          </a:custGeom>
          <a:solidFill>
            <a:schemeClr val="tx2">
              <a:alpha val="88000"/>
            </a:schemeClr>
          </a:solidFill>
          <a:ln w="15875">
            <a:solidFill>
              <a:srgbClr val="25F4EE">
                <a:alpha val="90000"/>
              </a:srgbClr>
            </a:solidFill>
            <a:prstDash val="solid"/>
          </a:ln>
        </p:spPr>
      </p:sp>
      <p:sp>
        <p:nvSpPr>
          <p:cNvPr id="15" name="Text 11"/>
          <p:cNvSpPr txBox="1"/>
          <p:nvPr/>
        </p:nvSpPr>
        <p:spPr>
          <a:xfrm>
            <a:off x="6766560" y="4434840"/>
            <a:ext cx="2103120" cy="640080"/>
          </a:xfrm>
          <a:prstGeom prst="rect">
            <a:avLst/>
          </a:prstGeom>
          <a:noFill/>
          <a:ln/>
        </p:spPr>
        <p:txBody>
          <a:bodyPr wrap="square" lIns="0" tIns="0" rIns="0" bIns="0" rtlCol="0" anchor="ctr"/>
          <a:lstStyle/>
          <a:p>
            <a:pPr marL="0" indent="0">
              <a:buNone/>
            </a:pPr>
            <a:r>
              <a:rPr lang="en-US" sz="2800" b="1" dirty="0">
                <a:solidFill>
                  <a:srgbClr val="25F4EE"/>
                </a:solidFill>
                <a:latin typeface="Courier New" pitchFamily="34" charset="0"/>
                <a:ea typeface="Courier New" pitchFamily="34" charset="-122"/>
                <a:cs typeface="Courier New" pitchFamily="34" charset="-120"/>
              </a:rPr>
              <a:t>24.33%</a:t>
            </a:r>
            <a:endParaRPr lang="en-US" sz="2800" dirty="0"/>
          </a:p>
        </p:txBody>
      </p:sp>
      <p:sp>
        <p:nvSpPr>
          <p:cNvPr id="16" name="Text 12"/>
          <p:cNvSpPr txBox="1"/>
          <p:nvPr/>
        </p:nvSpPr>
        <p:spPr>
          <a:xfrm>
            <a:off x="6766560" y="5120640"/>
            <a:ext cx="2103120" cy="365760"/>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NO  |  73 USERS</a:t>
            </a:r>
            <a:endParaRPr lang="en-US" sz="1200" dirty="0"/>
          </a:p>
        </p:txBody>
      </p:sp>
      <p:sp>
        <p:nvSpPr>
          <p:cNvPr id="17" name="Panel glow"/>
          <p:cNvSpPr/>
          <p:nvPr/>
        </p:nvSpPr>
        <p:spPr>
          <a:xfrm>
            <a:off x="9153144" y="4023360"/>
            <a:ext cx="2487168" cy="2011680"/>
          </a:xfrm>
          <a:custGeom>
            <a:avLst/>
            <a:gdLst/>
            <a:ahLst/>
            <a:cxnLst/>
            <a:rect l="l" t="t" r="r" b="b"/>
            <a:pathLst>
              <a:path w="2487168" h="2011680">
                <a:moveTo>
                  <a:pt x="0" y="0"/>
                </a:moveTo>
                <a:lnTo>
                  <a:pt x="2304288" y="0"/>
                </a:lnTo>
                <a:lnTo>
                  <a:pt x="2487168" y="182880"/>
                </a:lnTo>
                <a:lnTo>
                  <a:pt x="2487168" y="2011680"/>
                </a:lnTo>
                <a:lnTo>
                  <a:pt x="182880" y="2011680"/>
                </a:lnTo>
                <a:lnTo>
                  <a:pt x="0" y="1828800"/>
                </a:lnTo>
                <a:close/>
              </a:path>
            </a:pathLst>
          </a:custGeom>
          <a:ln w="63500">
            <a:solidFill>
              <a:srgbClr val="2F7BFF">
                <a:alpha val="14000"/>
              </a:srgbClr>
            </a:solidFill>
            <a:prstDash val="solid"/>
          </a:ln>
        </p:spPr>
      </p:sp>
      <p:sp>
        <p:nvSpPr>
          <p:cNvPr id="18" name="HUD panel"/>
          <p:cNvSpPr/>
          <p:nvPr/>
        </p:nvSpPr>
        <p:spPr>
          <a:xfrm>
            <a:off x="9153144" y="4023360"/>
            <a:ext cx="2487168" cy="2011680"/>
          </a:xfrm>
          <a:custGeom>
            <a:avLst/>
            <a:gdLst/>
            <a:ahLst/>
            <a:cxnLst/>
            <a:rect l="l" t="t" r="r" b="b"/>
            <a:pathLst>
              <a:path w="2487168" h="2011680">
                <a:moveTo>
                  <a:pt x="0" y="0"/>
                </a:moveTo>
                <a:lnTo>
                  <a:pt x="2304288" y="0"/>
                </a:lnTo>
                <a:lnTo>
                  <a:pt x="2487168" y="182880"/>
                </a:lnTo>
                <a:lnTo>
                  <a:pt x="2487168" y="2011680"/>
                </a:lnTo>
                <a:lnTo>
                  <a:pt x="182880" y="2011680"/>
                </a:lnTo>
                <a:lnTo>
                  <a:pt x="0" y="1828800"/>
                </a:lnTo>
                <a:close/>
              </a:path>
            </a:pathLst>
          </a:custGeom>
          <a:solidFill>
            <a:schemeClr val="tx2">
              <a:alpha val="88000"/>
            </a:schemeClr>
          </a:solidFill>
          <a:ln w="15875">
            <a:solidFill>
              <a:srgbClr val="2F7BFF">
                <a:alpha val="90000"/>
              </a:srgbClr>
            </a:solidFill>
            <a:prstDash val="solid"/>
          </a:ln>
        </p:spPr>
      </p:sp>
      <p:sp>
        <p:nvSpPr>
          <p:cNvPr id="19" name="Text 15"/>
          <p:cNvSpPr txBox="1"/>
          <p:nvPr/>
        </p:nvSpPr>
        <p:spPr>
          <a:xfrm>
            <a:off x="9427464" y="4434840"/>
            <a:ext cx="2103120" cy="640080"/>
          </a:xfrm>
          <a:prstGeom prst="rect">
            <a:avLst/>
          </a:prstGeom>
          <a:noFill/>
          <a:ln/>
        </p:spPr>
        <p:txBody>
          <a:bodyPr wrap="square" lIns="0" tIns="0" rIns="0" bIns="0" rtlCol="0" anchor="ctr"/>
          <a:lstStyle/>
          <a:p>
            <a:pPr marL="0" indent="0">
              <a:buNone/>
            </a:pPr>
            <a:r>
              <a:rPr lang="en-US" sz="2800" b="1" dirty="0">
                <a:solidFill>
                  <a:srgbClr val="2F7BFF"/>
                </a:solidFill>
                <a:latin typeface="Courier New" pitchFamily="34" charset="0"/>
                <a:ea typeface="Courier New" pitchFamily="34" charset="-122"/>
                <a:cs typeface="Courier New" pitchFamily="34" charset="-120"/>
              </a:rPr>
              <a:t>14.67%</a:t>
            </a:r>
            <a:endParaRPr lang="en-US" sz="2800" dirty="0"/>
          </a:p>
        </p:txBody>
      </p:sp>
      <p:sp>
        <p:nvSpPr>
          <p:cNvPr id="20" name="Text 16"/>
          <p:cNvSpPr txBox="1"/>
          <p:nvPr/>
        </p:nvSpPr>
        <p:spPr>
          <a:xfrm>
            <a:off x="9427464" y="5120640"/>
            <a:ext cx="2103120" cy="365760"/>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MAYBE  |  44 USERS</a:t>
            </a:r>
            <a:endParaRPr lang="en-US" sz="12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5F4EE"/>
                </a:solidFill>
                <a:latin typeface="Courier New"/>
                <a:ea typeface="Courier New"/>
                <a:cs typeface="Courier New"/>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7315200" cy="256032"/>
          </a:xfrm>
          <a:prstGeom prst="rect">
            <a:avLst/>
          </a:prstGeom>
          <a:noFill/>
          <a:ln/>
        </p:spPr>
        <p:txBody>
          <a:bodyPr wrap="square" lIns="0" tIns="0" rIns="0" bIns="0" rtlCol="0" anchor="t"/>
          <a:lstStyle/>
          <a:p>
            <a:pPr marL="0" indent="0">
              <a:buNone/>
            </a:pPr>
            <a:r>
              <a:rPr lang="en-US" sz="1200" b="1" kern="0" spc="300" dirty="0">
                <a:solidFill>
                  <a:srgbClr val="25F4EE"/>
                </a:solidFill>
                <a:latin typeface="Courier New" pitchFamily="34" charset="0"/>
                <a:ea typeface="Courier New" pitchFamily="34" charset="-122"/>
                <a:cs typeface="Courier New" pitchFamily="34" charset="-120"/>
              </a:rPr>
              <a:t>// 07  SUMMARY</a:t>
            </a:r>
            <a:endParaRPr lang="en-US" sz="1200" dirty="0"/>
          </a:p>
        </p:txBody>
      </p:sp>
      <p:sp>
        <p:nvSpPr>
          <p:cNvPr id="3" name="Text 1"/>
          <p:cNvSpPr>
            <a:spLocks noGrp="1"/>
          </p:cNvSpPr>
          <p:nvPr>
            <p:ph type="title" idx="101" hasCustomPrompt="1"/>
          </p:nvPr>
        </p:nvSpPr>
        <p:spPr>
          <a:xfrm>
            <a:off x="548640" y="530352"/>
            <a:ext cx="11064240" cy="777240"/>
          </a:xfrm>
          <a:prstGeom prst="rect">
            <a:avLst/>
          </a:prstGeom>
          <a:noFill/>
          <a:ln/>
        </p:spPr>
        <p:txBody>
          <a:bodyPr wrap="square" lIns="0" tIns="0" rIns="0" bIns="0" rtlCol="0" anchor="ctr"/>
          <a:lstStyle/>
          <a:p>
            <a:pPr marL="0" indent="0" algn="l">
              <a:buNone/>
            </a:pPr>
            <a:r>
              <a:rPr lang="en-US" sz="3400" b="1" dirty="0">
                <a:solidFill>
                  <a:schemeClr val="bg1"/>
                </a:solidFill>
              </a:rPr>
              <a:t>Key takeaways</a:t>
            </a:r>
            <a:endParaRPr lang="en-US" sz="3400" dirty="0"/>
          </a:p>
        </p:txBody>
      </p:sp>
      <p:sp>
        <p:nvSpPr>
          <p:cNvPr id="4" name="Panel glow"/>
          <p:cNvSpPr/>
          <p:nvPr/>
        </p:nvSpPr>
        <p:spPr>
          <a:xfrm>
            <a:off x="548640" y="1463040"/>
            <a:ext cx="5367528" cy="2103120"/>
          </a:xfrm>
          <a:custGeom>
            <a:avLst/>
            <a:gdLst/>
            <a:ahLst/>
            <a:cxnLst/>
            <a:rect l="l" t="t" r="r" b="b"/>
            <a:pathLst>
              <a:path w="5367528" h="2103120">
                <a:moveTo>
                  <a:pt x="0" y="0"/>
                </a:moveTo>
                <a:lnTo>
                  <a:pt x="5148072" y="0"/>
                </a:lnTo>
                <a:lnTo>
                  <a:pt x="5367528" y="219456"/>
                </a:lnTo>
                <a:lnTo>
                  <a:pt x="5367528" y="2103120"/>
                </a:lnTo>
                <a:lnTo>
                  <a:pt x="219456" y="2103120"/>
                </a:lnTo>
                <a:lnTo>
                  <a:pt x="0" y="1883664"/>
                </a:lnTo>
                <a:close/>
              </a:path>
            </a:pathLst>
          </a:custGeom>
          <a:ln w="63500">
            <a:solidFill>
              <a:srgbClr val="9B5CFF">
                <a:alpha val="14000"/>
              </a:srgbClr>
            </a:solidFill>
            <a:prstDash val="solid"/>
          </a:ln>
        </p:spPr>
      </p:sp>
      <p:sp>
        <p:nvSpPr>
          <p:cNvPr id="5" name="HUD panel"/>
          <p:cNvSpPr/>
          <p:nvPr/>
        </p:nvSpPr>
        <p:spPr>
          <a:xfrm>
            <a:off x="548640" y="1463040"/>
            <a:ext cx="5367528" cy="2103120"/>
          </a:xfrm>
          <a:custGeom>
            <a:avLst/>
            <a:gdLst/>
            <a:ahLst/>
            <a:cxnLst/>
            <a:rect l="l" t="t" r="r" b="b"/>
            <a:pathLst>
              <a:path w="5367528" h="2103120">
                <a:moveTo>
                  <a:pt x="0" y="0"/>
                </a:moveTo>
                <a:lnTo>
                  <a:pt x="5148072" y="0"/>
                </a:lnTo>
                <a:lnTo>
                  <a:pt x="5367528" y="219456"/>
                </a:lnTo>
                <a:lnTo>
                  <a:pt x="5367528" y="2103120"/>
                </a:lnTo>
                <a:lnTo>
                  <a:pt x="219456" y="2103120"/>
                </a:lnTo>
                <a:lnTo>
                  <a:pt x="0" y="1883664"/>
                </a:lnTo>
                <a:close/>
              </a:path>
            </a:pathLst>
          </a:custGeom>
          <a:solidFill>
            <a:schemeClr val="tx2">
              <a:alpha val="88000"/>
            </a:schemeClr>
          </a:solidFill>
          <a:ln w="15875">
            <a:solidFill>
              <a:srgbClr val="9B5CFF">
                <a:alpha val="90000"/>
              </a:srgbClr>
            </a:solidFill>
            <a:prstDash val="solid"/>
          </a:ln>
        </p:spPr>
      </p:sp>
      <p:sp>
        <p:nvSpPr>
          <p:cNvPr id="6" name="Text 4"/>
          <p:cNvSpPr txBox="1"/>
          <p:nvPr/>
        </p:nvSpPr>
        <p:spPr>
          <a:xfrm>
            <a:off x="868680" y="1965960"/>
            <a:ext cx="1188720" cy="914400"/>
          </a:xfrm>
          <a:prstGeom prst="rect">
            <a:avLst/>
          </a:prstGeom>
          <a:noFill/>
          <a:ln/>
        </p:spPr>
        <p:txBody>
          <a:bodyPr wrap="square" lIns="0" tIns="0" rIns="0" bIns="0" rtlCol="0" anchor="ctr"/>
          <a:lstStyle/>
          <a:p>
            <a:pPr marL="0" indent="0">
              <a:buNone/>
            </a:pPr>
            <a:r>
              <a:rPr lang="en-US" sz="4000" b="1" dirty="0">
                <a:solidFill>
                  <a:srgbClr val="9B5CFF"/>
                </a:solidFill>
                <a:latin typeface="Courier New" pitchFamily="34" charset="0"/>
                <a:ea typeface="Courier New" pitchFamily="34" charset="-122"/>
                <a:cs typeface="Courier New" pitchFamily="34" charset="-120"/>
              </a:rPr>
              <a:t>01</a:t>
            </a:r>
            <a:endParaRPr lang="en-US" sz="4000" dirty="0"/>
          </a:p>
        </p:txBody>
      </p:sp>
      <p:sp>
        <p:nvSpPr>
          <p:cNvPr id="7" name="Text 5"/>
          <p:cNvSpPr txBox="1"/>
          <p:nvPr/>
        </p:nvSpPr>
        <p:spPr>
          <a:xfrm>
            <a:off x="2240280" y="1737360"/>
            <a:ext cx="3474720" cy="502920"/>
          </a:xfrm>
          <a:prstGeom prst="rect">
            <a:avLst/>
          </a:prstGeom>
          <a:noFill/>
          <a:ln/>
        </p:spPr>
        <p:txBody>
          <a:bodyPr wrap="square" lIns="0" tIns="0" rIns="0" bIns="0" rtlCol="0" anchor="ctr"/>
          <a:lstStyle/>
          <a:p>
            <a:pPr marL="0" indent="0">
              <a:buNone/>
            </a:pPr>
            <a:r>
              <a:rPr lang="en-US" sz="2200" b="1" dirty="0">
                <a:solidFill>
                  <a:schemeClr val="bg1"/>
                </a:solidFill>
              </a:rPr>
              <a:t>AI is mainstream</a:t>
            </a:r>
            <a:endParaRPr lang="en-US" sz="2200" dirty="0"/>
          </a:p>
        </p:txBody>
      </p:sp>
      <p:sp>
        <p:nvSpPr>
          <p:cNvPr id="8" name="Text 6"/>
          <p:cNvSpPr txBox="1"/>
          <p:nvPr/>
        </p:nvSpPr>
        <p:spPr>
          <a:xfrm>
            <a:off x="2240280" y="2331720"/>
            <a:ext cx="3429000" cy="1097280"/>
          </a:xfrm>
          <a:prstGeom prst="rect">
            <a:avLst/>
          </a:prstGeom>
          <a:noFill/>
          <a:ln/>
        </p:spPr>
        <p:txBody>
          <a:bodyPr wrap="square" lIns="0" tIns="0" rIns="0" bIns="0" rtlCol="0" anchor="t"/>
          <a:lstStyle/>
          <a:p>
            <a:pPr marL="0" indent="0">
              <a:buNone/>
            </a:pPr>
            <a:r>
              <a:rPr lang="en-US" sz="1500" dirty="0">
                <a:solidFill>
                  <a:schemeClr val="bg2"/>
                </a:solidFill>
              </a:rPr>
              <a:t>300 users spend about 3 hours a day with AI tools, across students and professionals alike.</a:t>
            </a:r>
            <a:endParaRPr lang="en-US" sz="1500" dirty="0"/>
          </a:p>
        </p:txBody>
      </p:sp>
      <p:sp>
        <p:nvSpPr>
          <p:cNvPr id="9" name="Panel glow"/>
          <p:cNvSpPr/>
          <p:nvPr/>
        </p:nvSpPr>
        <p:spPr>
          <a:xfrm>
            <a:off x="6245352" y="1463040"/>
            <a:ext cx="5367528" cy="2103120"/>
          </a:xfrm>
          <a:custGeom>
            <a:avLst/>
            <a:gdLst/>
            <a:ahLst/>
            <a:cxnLst/>
            <a:rect l="l" t="t" r="r" b="b"/>
            <a:pathLst>
              <a:path w="5367528" h="2103120">
                <a:moveTo>
                  <a:pt x="0" y="0"/>
                </a:moveTo>
                <a:lnTo>
                  <a:pt x="5148072" y="0"/>
                </a:lnTo>
                <a:lnTo>
                  <a:pt x="5367528" y="219456"/>
                </a:lnTo>
                <a:lnTo>
                  <a:pt x="5367528" y="2103120"/>
                </a:lnTo>
                <a:lnTo>
                  <a:pt x="219456" y="2103120"/>
                </a:lnTo>
                <a:lnTo>
                  <a:pt x="0" y="1883664"/>
                </a:lnTo>
                <a:close/>
              </a:path>
            </a:pathLst>
          </a:custGeom>
          <a:ln w="63500">
            <a:solidFill>
              <a:srgbClr val="25F4EE">
                <a:alpha val="14000"/>
              </a:srgbClr>
            </a:solidFill>
            <a:prstDash val="solid"/>
          </a:ln>
        </p:spPr>
      </p:sp>
      <p:sp>
        <p:nvSpPr>
          <p:cNvPr id="10" name="HUD panel"/>
          <p:cNvSpPr/>
          <p:nvPr/>
        </p:nvSpPr>
        <p:spPr>
          <a:xfrm>
            <a:off x="6245352" y="1463040"/>
            <a:ext cx="5367528" cy="2103120"/>
          </a:xfrm>
          <a:custGeom>
            <a:avLst/>
            <a:gdLst/>
            <a:ahLst/>
            <a:cxnLst/>
            <a:rect l="l" t="t" r="r" b="b"/>
            <a:pathLst>
              <a:path w="5367528" h="2103120">
                <a:moveTo>
                  <a:pt x="0" y="0"/>
                </a:moveTo>
                <a:lnTo>
                  <a:pt x="5148072" y="0"/>
                </a:lnTo>
                <a:lnTo>
                  <a:pt x="5367528" y="219456"/>
                </a:lnTo>
                <a:lnTo>
                  <a:pt x="5367528" y="2103120"/>
                </a:lnTo>
                <a:lnTo>
                  <a:pt x="219456" y="2103120"/>
                </a:lnTo>
                <a:lnTo>
                  <a:pt x="0" y="1883664"/>
                </a:lnTo>
                <a:close/>
              </a:path>
            </a:pathLst>
          </a:custGeom>
          <a:solidFill>
            <a:schemeClr val="tx2">
              <a:alpha val="88000"/>
            </a:schemeClr>
          </a:solidFill>
          <a:ln w="15875">
            <a:solidFill>
              <a:srgbClr val="25F4EE">
                <a:alpha val="90000"/>
              </a:srgbClr>
            </a:solidFill>
            <a:prstDash val="solid"/>
          </a:ln>
        </p:spPr>
      </p:sp>
      <p:sp>
        <p:nvSpPr>
          <p:cNvPr id="11" name="Text 9"/>
          <p:cNvSpPr txBox="1"/>
          <p:nvPr/>
        </p:nvSpPr>
        <p:spPr>
          <a:xfrm>
            <a:off x="6565392" y="1965960"/>
            <a:ext cx="1188720" cy="914400"/>
          </a:xfrm>
          <a:prstGeom prst="rect">
            <a:avLst/>
          </a:prstGeom>
          <a:noFill/>
          <a:ln/>
        </p:spPr>
        <p:txBody>
          <a:bodyPr wrap="square" lIns="0" tIns="0" rIns="0" bIns="0" rtlCol="0" anchor="ctr"/>
          <a:lstStyle/>
          <a:p>
            <a:pPr marL="0" indent="0">
              <a:buNone/>
            </a:pPr>
            <a:r>
              <a:rPr lang="en-US" sz="4000" b="1" dirty="0">
                <a:solidFill>
                  <a:srgbClr val="25F4EE"/>
                </a:solidFill>
                <a:latin typeface="Courier New" pitchFamily="34" charset="0"/>
                <a:ea typeface="Courier New" pitchFamily="34" charset="-122"/>
                <a:cs typeface="Courier New" pitchFamily="34" charset="-120"/>
              </a:rPr>
              <a:t>02</a:t>
            </a:r>
            <a:endParaRPr lang="en-US" sz="4000" dirty="0"/>
          </a:p>
        </p:txBody>
      </p:sp>
      <p:sp>
        <p:nvSpPr>
          <p:cNvPr id="12" name="Text 10"/>
          <p:cNvSpPr txBox="1"/>
          <p:nvPr/>
        </p:nvSpPr>
        <p:spPr>
          <a:xfrm>
            <a:off x="7936992" y="1737360"/>
            <a:ext cx="3474720" cy="502920"/>
          </a:xfrm>
          <a:prstGeom prst="rect">
            <a:avLst/>
          </a:prstGeom>
          <a:noFill/>
          <a:ln/>
        </p:spPr>
        <p:txBody>
          <a:bodyPr wrap="square" lIns="0" tIns="0" rIns="0" bIns="0" rtlCol="0" anchor="ctr"/>
          <a:lstStyle/>
          <a:p>
            <a:pPr marL="0" indent="0">
              <a:buNone/>
            </a:pPr>
            <a:r>
              <a:rPr lang="en-US" sz="2200" b="1" dirty="0">
                <a:solidFill>
                  <a:schemeClr val="bg1"/>
                </a:solidFill>
              </a:rPr>
              <a:t>ChatGPT leads</a:t>
            </a:r>
            <a:endParaRPr lang="en-US" sz="2200" dirty="0"/>
          </a:p>
        </p:txBody>
      </p:sp>
      <p:sp>
        <p:nvSpPr>
          <p:cNvPr id="13" name="Text 11"/>
          <p:cNvSpPr txBox="1"/>
          <p:nvPr/>
        </p:nvSpPr>
        <p:spPr>
          <a:xfrm>
            <a:off x="7936992" y="2331720"/>
            <a:ext cx="3429000" cy="1097280"/>
          </a:xfrm>
          <a:prstGeom prst="rect">
            <a:avLst/>
          </a:prstGeom>
          <a:noFill/>
          <a:ln/>
        </p:spPr>
        <p:txBody>
          <a:bodyPr wrap="square" lIns="0" tIns="0" rIns="0" bIns="0" rtlCol="0" anchor="t"/>
          <a:lstStyle/>
          <a:p>
            <a:pPr marL="0" indent="0">
              <a:buNone/>
            </a:pPr>
            <a:r>
              <a:rPr lang="en-US" sz="1500" dirty="0">
                <a:solidFill>
                  <a:schemeClr val="bg2"/>
                </a:solidFill>
              </a:rPr>
              <a:t>It has by far the largest user base; Gemini, Copilot and Claude form a clear second tier.</a:t>
            </a:r>
            <a:endParaRPr lang="en-US" sz="1500" dirty="0"/>
          </a:p>
        </p:txBody>
      </p:sp>
      <p:sp>
        <p:nvSpPr>
          <p:cNvPr id="14" name="Panel glow"/>
          <p:cNvSpPr/>
          <p:nvPr/>
        </p:nvSpPr>
        <p:spPr>
          <a:xfrm>
            <a:off x="548640" y="3931920"/>
            <a:ext cx="5367528" cy="2103120"/>
          </a:xfrm>
          <a:custGeom>
            <a:avLst/>
            <a:gdLst/>
            <a:ahLst/>
            <a:cxnLst/>
            <a:rect l="l" t="t" r="r" b="b"/>
            <a:pathLst>
              <a:path w="5367528" h="2103120">
                <a:moveTo>
                  <a:pt x="0" y="0"/>
                </a:moveTo>
                <a:lnTo>
                  <a:pt x="5148072" y="0"/>
                </a:lnTo>
                <a:lnTo>
                  <a:pt x="5367528" y="219456"/>
                </a:lnTo>
                <a:lnTo>
                  <a:pt x="5367528" y="2103120"/>
                </a:lnTo>
                <a:lnTo>
                  <a:pt x="219456" y="2103120"/>
                </a:lnTo>
                <a:lnTo>
                  <a:pt x="0" y="1883664"/>
                </a:lnTo>
                <a:close/>
              </a:path>
            </a:pathLst>
          </a:custGeom>
          <a:ln w="63500">
            <a:solidFill>
              <a:srgbClr val="FF2E93">
                <a:alpha val="14000"/>
              </a:srgbClr>
            </a:solidFill>
            <a:prstDash val="solid"/>
          </a:ln>
        </p:spPr>
      </p:sp>
      <p:sp>
        <p:nvSpPr>
          <p:cNvPr id="15" name="HUD panel"/>
          <p:cNvSpPr/>
          <p:nvPr/>
        </p:nvSpPr>
        <p:spPr>
          <a:xfrm>
            <a:off x="548640" y="3931920"/>
            <a:ext cx="5367528" cy="2103120"/>
          </a:xfrm>
          <a:custGeom>
            <a:avLst/>
            <a:gdLst/>
            <a:ahLst/>
            <a:cxnLst/>
            <a:rect l="l" t="t" r="r" b="b"/>
            <a:pathLst>
              <a:path w="5367528" h="2103120">
                <a:moveTo>
                  <a:pt x="0" y="0"/>
                </a:moveTo>
                <a:lnTo>
                  <a:pt x="5148072" y="0"/>
                </a:lnTo>
                <a:lnTo>
                  <a:pt x="5367528" y="219456"/>
                </a:lnTo>
                <a:lnTo>
                  <a:pt x="5367528" y="2103120"/>
                </a:lnTo>
                <a:lnTo>
                  <a:pt x="219456" y="2103120"/>
                </a:lnTo>
                <a:lnTo>
                  <a:pt x="0" y="1883664"/>
                </a:lnTo>
                <a:close/>
              </a:path>
            </a:pathLst>
          </a:custGeom>
          <a:solidFill>
            <a:schemeClr val="tx2">
              <a:alpha val="88000"/>
            </a:schemeClr>
          </a:solidFill>
          <a:ln w="15875">
            <a:solidFill>
              <a:srgbClr val="FF2E93">
                <a:alpha val="90000"/>
              </a:srgbClr>
            </a:solidFill>
            <a:prstDash val="solid"/>
          </a:ln>
        </p:spPr>
      </p:sp>
      <p:sp>
        <p:nvSpPr>
          <p:cNvPr id="16" name="Text 14"/>
          <p:cNvSpPr txBox="1"/>
          <p:nvPr/>
        </p:nvSpPr>
        <p:spPr>
          <a:xfrm>
            <a:off x="868680" y="4434840"/>
            <a:ext cx="1188720" cy="914400"/>
          </a:xfrm>
          <a:prstGeom prst="rect">
            <a:avLst/>
          </a:prstGeom>
          <a:noFill/>
          <a:ln/>
        </p:spPr>
        <p:txBody>
          <a:bodyPr wrap="square" lIns="0" tIns="0" rIns="0" bIns="0" rtlCol="0" anchor="ctr"/>
          <a:lstStyle/>
          <a:p>
            <a:pPr marL="0" indent="0">
              <a:buNone/>
            </a:pPr>
            <a:r>
              <a:rPr lang="en-US" sz="4000" b="1" dirty="0">
                <a:solidFill>
                  <a:srgbClr val="FF2E93"/>
                </a:solidFill>
                <a:latin typeface="Courier New" pitchFamily="34" charset="0"/>
                <a:ea typeface="Courier New" pitchFamily="34" charset="-122"/>
                <a:cs typeface="Courier New" pitchFamily="34" charset="-120"/>
              </a:rPr>
              <a:t>03</a:t>
            </a:r>
            <a:endParaRPr lang="en-US" sz="4000" dirty="0"/>
          </a:p>
        </p:txBody>
      </p:sp>
      <p:sp>
        <p:nvSpPr>
          <p:cNvPr id="17" name="Text 15"/>
          <p:cNvSpPr txBox="1"/>
          <p:nvPr/>
        </p:nvSpPr>
        <p:spPr>
          <a:xfrm>
            <a:off x="2240280" y="4206240"/>
            <a:ext cx="3474720" cy="502920"/>
          </a:xfrm>
          <a:prstGeom prst="rect">
            <a:avLst/>
          </a:prstGeom>
          <a:noFill/>
          <a:ln/>
        </p:spPr>
        <p:txBody>
          <a:bodyPr wrap="square" lIns="0" tIns="0" rIns="0" bIns="0" rtlCol="0" anchor="ctr"/>
          <a:lstStyle/>
          <a:p>
            <a:pPr marL="0" indent="0">
              <a:buNone/>
            </a:pPr>
            <a:r>
              <a:rPr lang="en-US" sz="2200" b="1" dirty="0">
                <a:solidFill>
                  <a:schemeClr val="bg1"/>
                </a:solidFill>
              </a:rPr>
              <a:t>Gains are moderate</a:t>
            </a:r>
            <a:endParaRPr lang="en-US" sz="2200" dirty="0"/>
          </a:p>
        </p:txBody>
      </p:sp>
      <p:sp>
        <p:nvSpPr>
          <p:cNvPr id="18" name="Text 16"/>
          <p:cNvSpPr txBox="1"/>
          <p:nvPr/>
        </p:nvSpPr>
        <p:spPr>
          <a:xfrm>
            <a:off x="2240280" y="4800600"/>
            <a:ext cx="3429000" cy="1097280"/>
          </a:xfrm>
          <a:prstGeom prst="rect">
            <a:avLst/>
          </a:prstGeom>
          <a:noFill/>
          <a:ln/>
        </p:spPr>
        <p:txBody>
          <a:bodyPr wrap="square" lIns="0" tIns="0" rIns="0" bIns="0" rtlCol="0" anchor="t"/>
          <a:lstStyle/>
          <a:p>
            <a:pPr marL="0" indent="0">
              <a:buNone/>
            </a:pPr>
            <a:r>
              <a:rPr lang="en-US" sz="1500" dirty="0">
                <a:solidFill>
                  <a:schemeClr val="bg2"/>
                </a:solidFill>
              </a:rPr>
              <a:t>Productivity averages 5.44 out of 10, with about 6 hours of time saved on average.</a:t>
            </a:r>
            <a:endParaRPr lang="en-US" sz="1500" dirty="0"/>
          </a:p>
        </p:txBody>
      </p:sp>
      <p:sp>
        <p:nvSpPr>
          <p:cNvPr id="19" name="Panel glow"/>
          <p:cNvSpPr/>
          <p:nvPr/>
        </p:nvSpPr>
        <p:spPr>
          <a:xfrm>
            <a:off x="6245352" y="3931920"/>
            <a:ext cx="5367528" cy="2103120"/>
          </a:xfrm>
          <a:custGeom>
            <a:avLst/>
            <a:gdLst/>
            <a:ahLst/>
            <a:cxnLst/>
            <a:rect l="l" t="t" r="r" b="b"/>
            <a:pathLst>
              <a:path w="5367528" h="2103120">
                <a:moveTo>
                  <a:pt x="0" y="0"/>
                </a:moveTo>
                <a:lnTo>
                  <a:pt x="5148072" y="0"/>
                </a:lnTo>
                <a:lnTo>
                  <a:pt x="5367528" y="219456"/>
                </a:lnTo>
                <a:lnTo>
                  <a:pt x="5367528" y="2103120"/>
                </a:lnTo>
                <a:lnTo>
                  <a:pt x="219456" y="2103120"/>
                </a:lnTo>
                <a:lnTo>
                  <a:pt x="0" y="1883664"/>
                </a:lnTo>
                <a:close/>
              </a:path>
            </a:pathLst>
          </a:custGeom>
          <a:ln w="63500">
            <a:solidFill>
              <a:srgbClr val="2F7BFF">
                <a:alpha val="14000"/>
              </a:srgbClr>
            </a:solidFill>
            <a:prstDash val="solid"/>
          </a:ln>
        </p:spPr>
      </p:sp>
      <p:sp>
        <p:nvSpPr>
          <p:cNvPr id="20" name="HUD panel"/>
          <p:cNvSpPr/>
          <p:nvPr/>
        </p:nvSpPr>
        <p:spPr>
          <a:xfrm>
            <a:off x="6245352" y="3931920"/>
            <a:ext cx="5367528" cy="2103120"/>
          </a:xfrm>
          <a:custGeom>
            <a:avLst/>
            <a:gdLst/>
            <a:ahLst/>
            <a:cxnLst/>
            <a:rect l="l" t="t" r="r" b="b"/>
            <a:pathLst>
              <a:path w="5367528" h="2103120">
                <a:moveTo>
                  <a:pt x="0" y="0"/>
                </a:moveTo>
                <a:lnTo>
                  <a:pt x="5148072" y="0"/>
                </a:lnTo>
                <a:lnTo>
                  <a:pt x="5367528" y="219456"/>
                </a:lnTo>
                <a:lnTo>
                  <a:pt x="5367528" y="2103120"/>
                </a:lnTo>
                <a:lnTo>
                  <a:pt x="219456" y="2103120"/>
                </a:lnTo>
                <a:lnTo>
                  <a:pt x="0" y="1883664"/>
                </a:lnTo>
                <a:close/>
              </a:path>
            </a:pathLst>
          </a:custGeom>
          <a:solidFill>
            <a:schemeClr val="tx2">
              <a:alpha val="88000"/>
            </a:schemeClr>
          </a:solidFill>
          <a:ln w="15875">
            <a:solidFill>
              <a:srgbClr val="2F7BFF">
                <a:alpha val="90000"/>
              </a:srgbClr>
            </a:solidFill>
            <a:prstDash val="solid"/>
          </a:ln>
        </p:spPr>
      </p:sp>
      <p:sp>
        <p:nvSpPr>
          <p:cNvPr id="21" name="Text 19"/>
          <p:cNvSpPr txBox="1"/>
          <p:nvPr/>
        </p:nvSpPr>
        <p:spPr>
          <a:xfrm>
            <a:off x="6565392" y="4434840"/>
            <a:ext cx="1188720" cy="914400"/>
          </a:xfrm>
          <a:prstGeom prst="rect">
            <a:avLst/>
          </a:prstGeom>
          <a:noFill/>
          <a:ln/>
        </p:spPr>
        <p:txBody>
          <a:bodyPr wrap="square" lIns="0" tIns="0" rIns="0" bIns="0" rtlCol="0" anchor="ctr"/>
          <a:lstStyle/>
          <a:p>
            <a:pPr marL="0" indent="0">
              <a:buNone/>
            </a:pPr>
            <a:r>
              <a:rPr lang="en-US" sz="4000" b="1" dirty="0">
                <a:solidFill>
                  <a:srgbClr val="2F7BFF"/>
                </a:solidFill>
                <a:latin typeface="Courier New" pitchFamily="34" charset="0"/>
                <a:ea typeface="Courier New" pitchFamily="34" charset="-122"/>
                <a:cs typeface="Courier New" pitchFamily="34" charset="-120"/>
              </a:rPr>
              <a:t>04</a:t>
            </a:r>
            <a:endParaRPr lang="en-US" sz="4000" dirty="0"/>
          </a:p>
        </p:txBody>
      </p:sp>
      <p:sp>
        <p:nvSpPr>
          <p:cNvPr id="22" name="Text 20"/>
          <p:cNvSpPr txBox="1"/>
          <p:nvPr/>
        </p:nvSpPr>
        <p:spPr>
          <a:xfrm>
            <a:off x="7936992" y="4206240"/>
            <a:ext cx="3474720" cy="502920"/>
          </a:xfrm>
          <a:prstGeom prst="rect">
            <a:avLst/>
          </a:prstGeom>
          <a:noFill/>
          <a:ln/>
        </p:spPr>
        <p:txBody>
          <a:bodyPr wrap="square" lIns="0" tIns="0" rIns="0" bIns="0" rtlCol="0" anchor="ctr"/>
          <a:lstStyle/>
          <a:p>
            <a:pPr marL="0" indent="0">
              <a:buNone/>
            </a:pPr>
            <a:r>
              <a:rPr lang="en-US" sz="2200" b="1" dirty="0">
                <a:solidFill>
                  <a:schemeClr val="bg1"/>
                </a:solidFill>
              </a:rPr>
              <a:t>Sentiment is positive</a:t>
            </a:r>
            <a:endParaRPr lang="en-US" sz="2200" dirty="0"/>
          </a:p>
        </p:txBody>
      </p:sp>
      <p:sp>
        <p:nvSpPr>
          <p:cNvPr id="23" name="Text 21"/>
          <p:cNvSpPr txBox="1"/>
          <p:nvPr/>
        </p:nvSpPr>
        <p:spPr>
          <a:xfrm>
            <a:off x="7936992" y="4800600"/>
            <a:ext cx="3429000" cy="1097280"/>
          </a:xfrm>
          <a:prstGeom prst="rect">
            <a:avLst/>
          </a:prstGeom>
          <a:noFill/>
          <a:ln/>
        </p:spPr>
        <p:txBody>
          <a:bodyPr wrap="square" lIns="0" tIns="0" rIns="0" bIns="0" rtlCol="0" anchor="t"/>
          <a:lstStyle/>
          <a:p>
            <a:pPr marL="0" indent="0">
              <a:buNone/>
            </a:pPr>
            <a:r>
              <a:rPr lang="en-US" sz="1500" dirty="0">
                <a:solidFill>
                  <a:schemeClr val="bg2"/>
                </a:solidFill>
              </a:rPr>
              <a:t>61% would recommend AI tools; about 1 in 4 would not and 15% are undecided.</a:t>
            </a:r>
            <a:endParaRPr lang="en-US" sz="15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25F4EE"/>
                </a:solidFill>
                <a:latin typeface="Courier New"/>
                <a:ea typeface="Courier New"/>
                <a:cs typeface="Courier New"/>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Cyber AI">
  <a:themeElements>
    <a:clrScheme name="Cyber AI">
      <a:dk1>
        <a:srgbClr val="05030F"/>
      </a:dk1>
      <a:lt1>
        <a:srgbClr val="FFFFFF"/>
      </a:lt1>
      <a:dk2>
        <a:srgbClr val="0E0B24"/>
      </a:dk2>
      <a:lt2>
        <a:srgbClr val="B7B1E6"/>
      </a:lt2>
      <a:accent1>
        <a:srgbClr val="9B5CFF"/>
      </a:accent1>
      <a:accent2>
        <a:srgbClr val="25F4EE"/>
      </a:accent2>
      <a:accent3>
        <a:srgbClr val="2F7BFF"/>
      </a:accent3>
      <a:accent4>
        <a:srgbClr val="FF7A59"/>
      </a:accent4>
      <a:accent5>
        <a:srgbClr val="FF2E93"/>
      </a:accent5>
      <a:accent6>
        <a:srgbClr val="C77DFF"/>
      </a:accent6>
      <a:hlink>
        <a:srgbClr val="25F4EE"/>
      </a:hlink>
      <a:folHlink>
        <a:srgbClr val="9B5CFF"/>
      </a:folHlink>
    </a:clrScheme>
    <a:fontScheme name="Cyber A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TotalTime>
  <Words>910</Words>
  <Application>Microsoft Office PowerPoint</Application>
  <PresentationFormat>Widescreen</PresentationFormat>
  <Paragraphs>117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Courier New</vt:lpstr>
      <vt:lpstr>Cyber AI</vt:lpstr>
      <vt:lpstr>AI USAGE AND IMPACT ANALYSIS</vt:lpstr>
      <vt:lpstr>The dataset at a glance</vt:lpstr>
      <vt:lpstr>Who is using AI? An almost even split</vt:lpstr>
      <vt:lpstr>ChatGPT dominates the AI tool landscape</vt:lpstr>
      <vt:lpstr>Why people use AI: eight main use-cases</vt:lpstr>
      <vt:lpstr>Productivity and satisfaction by group</vt:lpstr>
      <vt:lpstr>Would users recommend AI tools?</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Usage and Impact Analysis</dc:title>
  <dc:subject>PptxGenJS Presentation</dc:subject>
  <dc:creator>PptxGenJS</dc:creator>
  <cp:lastModifiedBy>THE BEAST</cp:lastModifiedBy>
  <cp:revision>4</cp:revision>
  <dcterms:created xsi:type="dcterms:W3CDTF">2026-10-15T07:16:22Z</dcterms:created>
  <dcterms:modified xsi:type="dcterms:W3CDTF">2026-10-15T14:21:25Z</dcterms:modified>
</cp:coreProperties>
</file>